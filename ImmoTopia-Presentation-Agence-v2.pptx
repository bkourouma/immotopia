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Objectif de la présentation : montrer qu'un seul outil couvre le parcours complet, du premier contact entrant jusqu'à la quittance envoyée au locataire.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valider ces quatre points par le prospect avant d'enchaîner. S'il en cite un cinquième, le noter : c'est l'accroche de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clé : les modules partagent le même fichier clients et le même parc de biens. Un propriétaire saisi une fois dans le CRM devient le bailleur d'un bail et le destinataire d'un relevé.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rapprochement automatique : c'est ce qui distingue le module d'un simple carnet d'adresses.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score de qualité de l'annonce indique ce qui manque avant publication (photos, surface, documents). Le montrer en démo si le prospect diffuse sur des portails.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module qui emporte la décision chez une agence de gestion. Chiffrer avec le prospect : nombre de lots gérés × temps passé aujourd'hui sur les quittances mensuelles.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 propriétaire autant que locataire : le propriétaire voit les incidents en cours sur ses biens depuis son propre portail, sans appeler l'agence.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Bénéfice à quantifier : combien d'appels entrants par jour portent aujourd'hui sur « où en est mon paiement » ou « envoyez-moi ma quittance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groupe WhatsApp est un différenciateur local : invitation automatique d'un nouveau contact, et diffusion de l'annonce au groupe dès qu'un bien est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Fermer sur une date de démonstration. Demander en partant : combien de lots en gestion, combien de biens à la vente, et quel outil ils utilisent aujourd'hui pour les quittances.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F43"/>
        </a:solidFill>
      </p:bgPr>
    </p:bg>
    <p:spTree>
      <p:nvGrpSpPr>
        <p:cNvPr id="1" name=""/>
        <p:cNvGrpSpPr/>
        <p:nvPr/>
      </p:nvGrpSpPr>
      <p:grpSpPr>
        <a:xfrm>
          <a:off x="0" y="0"/>
          <a:ext cx="0" cy="0"/>
          <a:chOff x="0" y="0"/>
          <a:chExt cx="0" cy="0"/>
        </a:xfrm>
      </p:grpSpPr>
      <p:sp>
        <p:nvSpPr>
          <p:cNvPr id="2" name="Shape 0"/>
          <p:cNvSpPr/>
          <p:nvPr/>
        </p:nvSpPr>
        <p:spPr>
          <a:xfrm>
            <a:off x="8595360" y="2286000"/>
            <a:ext cx="5120640" cy="5120640"/>
          </a:xfrm>
          <a:prstGeom prst="ellipse">
            <a:avLst/>
          </a:prstGeom>
          <a:solidFill>
            <a:srgbClr val="7FD4CE">
              <a:alpha val="7000"/>
            </a:srgbClr>
          </a:solidFill>
          <a:ln/>
        </p:spPr>
      </p:sp>
      <p:sp>
        <p:nvSpPr>
          <p:cNvPr id="3" name="Shape 1"/>
          <p:cNvSpPr/>
          <p:nvPr/>
        </p:nvSpPr>
        <p:spPr>
          <a:xfrm>
            <a:off x="9601200" y="3291840"/>
            <a:ext cx="3108960" cy="3108960"/>
          </a:xfrm>
          <a:prstGeom prst="ellipse">
            <a:avLst/>
          </a:prstGeom>
          <a:solidFill>
            <a:srgbClr val="7FD4CE">
              <a:alpha val="12000"/>
            </a:srgbClr>
          </a:solidFill>
          <a:ln/>
        </p:spPr>
      </p:sp>
      <p:sp>
        <p:nvSpPr>
          <p:cNvPr id="4" name="Shape 2"/>
          <p:cNvSpPr/>
          <p:nvPr/>
        </p:nvSpPr>
        <p:spPr>
          <a:xfrm>
            <a:off x="10378440" y="4069080"/>
            <a:ext cx="1554480" cy="1554480"/>
          </a:xfrm>
          <a:prstGeom prst="ellipse">
            <a:avLst/>
          </a:prstGeom>
          <a:solidFill>
            <a:srgbClr val="7FD4CE">
              <a:alpha val="18000"/>
            </a:srgbClr>
          </a:solidFill>
          <a:ln/>
        </p:spPr>
      </p:sp>
      <p:sp>
        <p:nvSpPr>
          <p:cNvPr id="5" name="Text 3"/>
          <p:cNvSpPr txBox="1"/>
          <p:nvPr/>
        </p:nvSpPr>
        <p:spPr>
          <a:xfrm>
            <a:off x="777240" y="777240"/>
            <a:ext cx="5486400" cy="292608"/>
          </a:xfrm>
          <a:prstGeom prst="rect">
            <a:avLst/>
          </a:prstGeom>
          <a:noFill/>
          <a:ln/>
        </p:spPr>
        <p:txBody>
          <a:bodyPr wrap="square" lIns="0" tIns="0" rIns="0" bIns="0" rtlCol="0" anchor="ctr"/>
          <a:lstStyle/>
          <a:p>
            <a:pPr indent="0" marL="0">
              <a:buNone/>
            </a:pPr>
            <a:r>
              <a:rPr lang="en-US" sz="1300" b="1" spc="400" kern="0" dirty="0">
                <a:solidFill>
                  <a:srgbClr val="7FD4CE"/>
                </a:solidFill>
                <a:latin typeface="Calibri" pitchFamily="34" charset="0"/>
                <a:ea typeface="Calibri" pitchFamily="34" charset="-122"/>
                <a:cs typeface="Calibri" pitchFamily="34" charset="-120"/>
              </a:rPr>
              <a:t>IMMOTOPIA</a:t>
            </a:r>
            <a:endParaRPr lang="en-US" sz="1300" dirty="0"/>
          </a:p>
        </p:txBody>
      </p:sp>
      <p:sp>
        <p:nvSpPr>
          <p:cNvPr id="6" name="Text 4"/>
          <p:cNvSpPr txBox="1"/>
          <p:nvPr/>
        </p:nvSpPr>
        <p:spPr>
          <a:xfrm>
            <a:off x="777240" y="1874520"/>
            <a:ext cx="7863840" cy="1920240"/>
          </a:xfrm>
          <a:prstGeom prst="rect">
            <a:avLst/>
          </a:prstGeom>
          <a:noFill/>
          <a:ln/>
        </p:spPr>
        <p:txBody>
          <a:bodyPr wrap="square" lIns="0" tIns="0" rIns="0" bIns="0" rtlCol="0" anchor="ctr"/>
          <a:lstStyle/>
          <a:p>
            <a:pPr indent="0" marL="0">
              <a:lnSpc>
                <a:spcPct val="103000"/>
              </a:lnSpc>
              <a:buNone/>
            </a:pPr>
            <a:r>
              <a:rPr lang="en-US" sz="4200" b="1" dirty="0">
                <a:solidFill>
                  <a:srgbClr val="FFFFFF"/>
                </a:solidFill>
                <a:latin typeface="Cambria" pitchFamily="34" charset="0"/>
                <a:ea typeface="Cambria" pitchFamily="34" charset="-122"/>
                <a:cs typeface="Cambria" pitchFamily="34" charset="-120"/>
              </a:rPr>
              <a:t>Toute votre agence dans une seule plateforme.</a:t>
            </a:r>
            <a:endParaRPr lang="en-US" sz="4200" dirty="0"/>
          </a:p>
        </p:txBody>
      </p:sp>
      <p:sp>
        <p:nvSpPr>
          <p:cNvPr id="7" name="Text 5"/>
          <p:cNvSpPr txBox="1"/>
          <p:nvPr/>
        </p:nvSpPr>
        <p:spPr>
          <a:xfrm>
            <a:off x="777240" y="3977640"/>
            <a:ext cx="7315200" cy="822960"/>
          </a:xfrm>
          <a:prstGeom prst="rect">
            <a:avLst/>
          </a:prstGeom>
          <a:noFill/>
          <a:ln/>
        </p:spPr>
        <p:txBody>
          <a:bodyPr wrap="square" lIns="0" tIns="0" rIns="0" bIns="0" rtlCol="0" anchor="ctr"/>
          <a:lstStyle/>
          <a:p>
            <a:pPr indent="0" marL="0">
              <a:lnSpc>
                <a:spcPct val="115000"/>
              </a:lnSpc>
              <a:buNone/>
            </a:pPr>
            <a:r>
              <a:rPr lang="en-US" sz="1650" dirty="0">
                <a:solidFill>
                  <a:srgbClr val="A9C4C4"/>
                </a:solidFill>
                <a:latin typeface="Calibri" pitchFamily="34" charset="0"/>
                <a:ea typeface="Calibri" pitchFamily="34" charset="-122"/>
                <a:cs typeface="Calibri" pitchFamily="34" charset="-120"/>
              </a:rPr>
              <a:t>Transaction, gestion locative, portails clients et relances automatiques — sans double saisie.</a:t>
            </a:r>
            <a:endParaRPr lang="en-US" sz="1650" dirty="0"/>
          </a:p>
        </p:txBody>
      </p:sp>
      <p:sp>
        <p:nvSpPr>
          <p:cNvPr id="8" name="Text 6"/>
          <p:cNvSpPr txBox="1"/>
          <p:nvPr/>
        </p:nvSpPr>
        <p:spPr>
          <a:xfrm>
            <a:off x="777240" y="5989320"/>
            <a:ext cx="6400800" cy="274320"/>
          </a:xfrm>
          <a:prstGeom prst="rect">
            <a:avLst/>
          </a:prstGeom>
          <a:noFill/>
          <a:ln/>
        </p:spPr>
        <p:txBody>
          <a:bodyPr wrap="square" lIns="0" tIns="0" rIns="0" bIns="0" rtlCol="0" anchor="ctr"/>
          <a:lstStyle/>
          <a:p>
            <a:pPr indent="0" marL="0">
              <a:buNone/>
            </a:pPr>
            <a:r>
              <a:rPr lang="en-US" sz="1150" spc="140" kern="0" dirty="0">
                <a:solidFill>
                  <a:srgbClr val="A9C4C4"/>
                </a:solidFill>
                <a:latin typeface="Calibri" pitchFamily="34" charset="0"/>
                <a:ea typeface="Calibri" pitchFamily="34" charset="-122"/>
                <a:cs typeface="Calibri" pitchFamily="34" charset="-120"/>
              </a:rPr>
              <a:t>Présentation commerciale  ·  Septembre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LE CONSTAT</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Cinq outils différents pour une seule agence.</a:t>
            </a:r>
            <a:endParaRPr lang="en-US" sz="3100" dirty="0"/>
          </a:p>
        </p:txBody>
      </p:sp>
      <p:sp>
        <p:nvSpPr>
          <p:cNvPr id="4" name="Shape 2"/>
          <p:cNvSpPr/>
          <p:nvPr/>
        </p:nvSpPr>
        <p:spPr>
          <a:xfrm>
            <a:off x="640080" y="1783080"/>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1024128" y="2167128"/>
            <a:ext cx="566928" cy="566928"/>
          </a:xfrm>
          <a:prstGeom prst="ellipse">
            <a:avLst/>
          </a:prstGeom>
          <a:solidFill>
            <a:srgbClr val="F3E6DE"/>
          </a:solidFill>
          <a:ln/>
        </p:spPr>
      </p:sp>
      <p:pic>
        <p:nvPicPr>
          <p:cNvPr id="6" name="Image 0" descr="preencoded.png">    </p:cNvPr>
          <p:cNvPicPr>
            <a:picLocks noChangeAspect="1"/>
          </p:cNvPicPr>
          <p:nvPr/>
        </p:nvPicPr>
        <p:blipFill>
          <a:blip r:embed="rId1"/>
          <a:stretch>
            <a:fillRect/>
          </a:stretch>
        </p:blipFill>
        <p:spPr>
          <a:xfrm>
            <a:off x="1103498" y="2246498"/>
            <a:ext cx="408188" cy="408188"/>
          </a:xfrm>
          <a:prstGeom prst="rect">
            <a:avLst/>
          </a:prstGeom>
        </p:spPr>
      </p:pic>
      <p:sp>
        <p:nvSpPr>
          <p:cNvPr id="7" name="Text 4"/>
          <p:cNvSpPr txBox="1"/>
          <p:nvPr/>
        </p:nvSpPr>
        <p:spPr>
          <a:xfrm>
            <a:off x="1773936" y="2185416"/>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 fichier clients vit dans les têtes</a:t>
            </a:r>
            <a:endParaRPr lang="en-US" sz="1550" dirty="0"/>
          </a:p>
        </p:txBody>
      </p:sp>
      <p:sp>
        <p:nvSpPr>
          <p:cNvPr id="8" name="Text 5"/>
          <p:cNvSpPr txBox="1"/>
          <p:nvPr/>
        </p:nvSpPr>
        <p:spPr>
          <a:xfrm>
            <a:off x="1773936" y="2752344"/>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Les demandes arrivent par appel, par WhatsApp, au bureau. Sans suivi partagé, une relance oubliée est une affaire perdue.</a:t>
            </a:r>
            <a:endParaRPr lang="en-US" sz="1250" dirty="0"/>
          </a:p>
        </p:txBody>
      </p:sp>
      <p:sp>
        <p:nvSpPr>
          <p:cNvPr id="9" name="Shape 6"/>
          <p:cNvSpPr/>
          <p:nvPr/>
        </p:nvSpPr>
        <p:spPr>
          <a:xfrm>
            <a:off x="6245352" y="1783080"/>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0" name="Shape 7"/>
          <p:cNvSpPr/>
          <p:nvPr/>
        </p:nvSpPr>
        <p:spPr>
          <a:xfrm>
            <a:off x="6629400" y="2167128"/>
            <a:ext cx="566928" cy="566928"/>
          </a:xfrm>
          <a:prstGeom prst="ellipse">
            <a:avLst/>
          </a:prstGeom>
          <a:solidFill>
            <a:srgbClr val="F3E6DE"/>
          </a:solidFill>
          <a:ln/>
        </p:spPr>
      </p:sp>
      <p:pic>
        <p:nvPicPr>
          <p:cNvPr id="11" name="Image 1" descr="preencoded.png">    </p:cNvPr>
          <p:cNvPicPr>
            <a:picLocks noChangeAspect="1"/>
          </p:cNvPicPr>
          <p:nvPr/>
        </p:nvPicPr>
        <p:blipFill>
          <a:blip r:embed="rId2"/>
          <a:stretch>
            <a:fillRect/>
          </a:stretch>
        </p:blipFill>
        <p:spPr>
          <a:xfrm>
            <a:off x="6708770" y="2246498"/>
            <a:ext cx="408188" cy="408188"/>
          </a:xfrm>
          <a:prstGeom prst="rect">
            <a:avLst/>
          </a:prstGeom>
        </p:spPr>
      </p:pic>
      <p:sp>
        <p:nvSpPr>
          <p:cNvPr id="12" name="Text 8"/>
          <p:cNvSpPr txBox="1"/>
          <p:nvPr/>
        </p:nvSpPr>
        <p:spPr>
          <a:xfrm>
            <a:off x="7379208" y="2185416"/>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Les loyers se suivent sur un tableur</a:t>
            </a:r>
            <a:endParaRPr lang="en-US" sz="1550" dirty="0"/>
          </a:p>
        </p:txBody>
      </p:sp>
      <p:sp>
        <p:nvSpPr>
          <p:cNvPr id="13" name="Text 9"/>
          <p:cNvSpPr txBox="1"/>
          <p:nvPr/>
        </p:nvSpPr>
        <p:spPr>
          <a:xfrm>
            <a:off x="7379208" y="2752344"/>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Qui a payé, combien, quand ? Le fichier est sur un seul poste, rarement à jour, et les pénalités se calculent à la main.</a:t>
            </a:r>
            <a:endParaRPr lang="en-US" sz="1250" dirty="0"/>
          </a:p>
        </p:txBody>
      </p:sp>
      <p:sp>
        <p:nvSpPr>
          <p:cNvPr id="14" name="Shape 10"/>
          <p:cNvSpPr/>
          <p:nvPr/>
        </p:nvSpPr>
        <p:spPr>
          <a:xfrm>
            <a:off x="640080" y="4087368"/>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5" name="Shape 11"/>
          <p:cNvSpPr/>
          <p:nvPr/>
        </p:nvSpPr>
        <p:spPr>
          <a:xfrm>
            <a:off x="1024128" y="4471416"/>
            <a:ext cx="566928" cy="566928"/>
          </a:xfrm>
          <a:prstGeom prst="ellipse">
            <a:avLst/>
          </a:prstGeom>
          <a:solidFill>
            <a:srgbClr val="F3E6DE"/>
          </a:solidFill>
          <a:ln/>
        </p:spPr>
      </p:sp>
      <p:pic>
        <p:nvPicPr>
          <p:cNvPr id="16" name="Image 2" descr="preencoded.png">    </p:cNvPr>
          <p:cNvPicPr>
            <a:picLocks noChangeAspect="1"/>
          </p:cNvPicPr>
          <p:nvPr/>
        </p:nvPicPr>
        <p:blipFill>
          <a:blip r:embed="rId3"/>
          <a:stretch>
            <a:fillRect/>
          </a:stretch>
        </p:blipFill>
        <p:spPr>
          <a:xfrm>
            <a:off x="1103498" y="4550786"/>
            <a:ext cx="408188" cy="408188"/>
          </a:xfrm>
          <a:prstGeom prst="rect">
            <a:avLst/>
          </a:prstGeom>
        </p:spPr>
      </p:pic>
      <p:sp>
        <p:nvSpPr>
          <p:cNvPr id="17" name="Text 12"/>
          <p:cNvSpPr txBox="1"/>
          <p:nvPr/>
        </p:nvSpPr>
        <p:spPr>
          <a:xfrm>
            <a:off x="1773936" y="4489704"/>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Les quittances se retapent chaque mois</a:t>
            </a:r>
            <a:endParaRPr lang="en-US" sz="1550" dirty="0"/>
          </a:p>
        </p:txBody>
      </p:sp>
      <p:sp>
        <p:nvSpPr>
          <p:cNvPr id="18" name="Text 13"/>
          <p:cNvSpPr txBox="1"/>
          <p:nvPr/>
        </p:nvSpPr>
        <p:spPr>
          <a:xfrm>
            <a:off x="1773936" y="5056632"/>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Les mêmes documents ressaisis un par un, avec le risque d'erreur, la numérotation à tenir et le temps que cela coûte.</a:t>
            </a:r>
            <a:endParaRPr lang="en-US" sz="1250" dirty="0"/>
          </a:p>
        </p:txBody>
      </p:sp>
      <p:sp>
        <p:nvSpPr>
          <p:cNvPr id="19" name="Shape 14"/>
          <p:cNvSpPr/>
          <p:nvPr/>
        </p:nvSpPr>
        <p:spPr>
          <a:xfrm>
            <a:off x="6245352" y="4087368"/>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0" name="Shape 15"/>
          <p:cNvSpPr/>
          <p:nvPr/>
        </p:nvSpPr>
        <p:spPr>
          <a:xfrm>
            <a:off x="6629400" y="4471416"/>
            <a:ext cx="566928" cy="566928"/>
          </a:xfrm>
          <a:prstGeom prst="ellipse">
            <a:avLst/>
          </a:prstGeom>
          <a:solidFill>
            <a:srgbClr val="F3E6DE"/>
          </a:solidFill>
          <a:ln/>
        </p:spPr>
      </p:sp>
      <p:pic>
        <p:nvPicPr>
          <p:cNvPr id="21" name="Image 3" descr="preencoded.png">    </p:cNvPr>
          <p:cNvPicPr>
            <a:picLocks noChangeAspect="1"/>
          </p:cNvPicPr>
          <p:nvPr/>
        </p:nvPicPr>
        <p:blipFill>
          <a:blip r:embed="rId4"/>
          <a:stretch>
            <a:fillRect/>
          </a:stretch>
        </p:blipFill>
        <p:spPr>
          <a:xfrm>
            <a:off x="6708770" y="4550786"/>
            <a:ext cx="408188" cy="408188"/>
          </a:xfrm>
          <a:prstGeom prst="rect">
            <a:avLst/>
          </a:prstGeom>
        </p:spPr>
      </p:pic>
      <p:sp>
        <p:nvSpPr>
          <p:cNvPr id="22" name="Text 16"/>
          <p:cNvSpPr txBox="1"/>
          <p:nvPr/>
        </p:nvSpPr>
        <p:spPr>
          <a:xfrm>
            <a:off x="7379208" y="4489704"/>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 propriétaire rappelle pour savoir</a:t>
            </a:r>
            <a:endParaRPr lang="en-US" sz="1550" dirty="0"/>
          </a:p>
        </p:txBody>
      </p:sp>
      <p:sp>
        <p:nvSpPr>
          <p:cNvPr id="23" name="Text 17"/>
          <p:cNvSpPr txBox="1"/>
          <p:nvPr/>
        </p:nvSpPr>
        <p:spPr>
          <a:xfrm>
            <a:off x="7379208" y="5056632"/>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Sans accès à ses chiffres, il téléphone. Vous cherchez, vous recomposez le tableau, vous renvoyez.</a:t>
            </a:r>
            <a:endParaRPr lang="en-US" sz="1250" dirty="0"/>
          </a:p>
        </p:txBody>
      </p:sp>
      <p:sp>
        <p:nvSpPr>
          <p:cNvPr id="24" name="Text 18"/>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LA RÉPONSE</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Une seule plateforme, du contact à la quittance.</a:t>
            </a:r>
            <a:endParaRPr lang="en-US" sz="3100" dirty="0"/>
          </a:p>
        </p:txBody>
      </p:sp>
      <p:sp>
        <p:nvSpPr>
          <p:cNvPr id="4" name="Text 2"/>
          <p:cNvSpPr txBox="1"/>
          <p:nvPr/>
        </p:nvSpPr>
        <p:spPr>
          <a:xfrm>
            <a:off x="640080"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8</a:t>
            </a:r>
            <a:endParaRPr lang="en-US" sz="4400" dirty="0"/>
          </a:p>
        </p:txBody>
      </p:sp>
      <p:sp>
        <p:nvSpPr>
          <p:cNvPr id="5" name="Text 3"/>
          <p:cNvSpPr txBox="1"/>
          <p:nvPr/>
        </p:nvSpPr>
        <p:spPr>
          <a:xfrm>
            <a:off x="640080"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domaines métier couverts</a:t>
            </a:r>
            <a:endParaRPr lang="en-US" sz="1250" dirty="0"/>
          </a:p>
        </p:txBody>
      </p:sp>
      <p:sp>
        <p:nvSpPr>
          <p:cNvPr id="6" name="Text 4"/>
          <p:cNvSpPr txBox="1"/>
          <p:nvPr/>
        </p:nvSpPr>
        <p:spPr>
          <a:xfrm>
            <a:off x="3483864"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2</a:t>
            </a:r>
            <a:endParaRPr lang="en-US" sz="4400" dirty="0"/>
          </a:p>
        </p:txBody>
      </p:sp>
      <p:sp>
        <p:nvSpPr>
          <p:cNvPr id="7" name="Text 5"/>
          <p:cNvSpPr txBox="1"/>
          <p:nvPr/>
        </p:nvSpPr>
        <p:spPr>
          <a:xfrm>
            <a:off x="3483864"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portails clients en libre-service</a:t>
            </a:r>
            <a:endParaRPr lang="en-US" sz="1250" dirty="0"/>
          </a:p>
        </p:txBody>
      </p:sp>
      <p:sp>
        <p:nvSpPr>
          <p:cNvPr id="8" name="Text 6"/>
          <p:cNvSpPr txBox="1"/>
          <p:nvPr/>
        </p:nvSpPr>
        <p:spPr>
          <a:xfrm>
            <a:off x="6327648"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3</a:t>
            </a:r>
            <a:endParaRPr lang="en-US" sz="4400" dirty="0"/>
          </a:p>
        </p:txBody>
      </p:sp>
      <p:sp>
        <p:nvSpPr>
          <p:cNvPr id="9" name="Text 7"/>
          <p:cNvSpPr txBox="1"/>
          <p:nvPr/>
        </p:nvSpPr>
        <p:spPr>
          <a:xfrm>
            <a:off x="6327648"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canaux d'envoi automatisés</a:t>
            </a:r>
            <a:endParaRPr lang="en-US" sz="1250" dirty="0"/>
          </a:p>
        </p:txBody>
      </p:sp>
      <p:sp>
        <p:nvSpPr>
          <p:cNvPr id="10" name="Text 8"/>
          <p:cNvSpPr txBox="1"/>
          <p:nvPr/>
        </p:nvSpPr>
        <p:spPr>
          <a:xfrm>
            <a:off x="9171432"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0</a:t>
            </a:r>
            <a:endParaRPr lang="en-US" sz="4400" dirty="0"/>
          </a:p>
        </p:txBody>
      </p:sp>
      <p:sp>
        <p:nvSpPr>
          <p:cNvPr id="11" name="Text 9"/>
          <p:cNvSpPr txBox="1"/>
          <p:nvPr/>
        </p:nvSpPr>
        <p:spPr>
          <a:xfrm>
            <a:off x="9171432"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double saisie entre modules</a:t>
            </a:r>
            <a:endParaRPr lang="en-US" sz="1250" dirty="0"/>
          </a:p>
        </p:txBody>
      </p:sp>
      <p:sp>
        <p:nvSpPr>
          <p:cNvPr id="12" name="Shape 10"/>
          <p:cNvSpPr/>
          <p:nvPr/>
        </p:nvSpPr>
        <p:spPr>
          <a:xfrm>
            <a:off x="640080" y="3200400"/>
            <a:ext cx="10908792" cy="10973"/>
          </a:xfrm>
          <a:prstGeom prst="rect">
            <a:avLst/>
          </a:prstGeom>
          <a:solidFill>
            <a:srgbClr val="DDE2DF"/>
          </a:solidFill>
          <a:ln/>
        </p:spPr>
      </p:sp>
      <p:sp>
        <p:nvSpPr>
          <p:cNvPr id="13" name="Shape 11"/>
          <p:cNvSpPr/>
          <p:nvPr/>
        </p:nvSpPr>
        <p:spPr>
          <a:xfrm>
            <a:off x="640080" y="3520440"/>
            <a:ext cx="512064" cy="512064"/>
          </a:xfrm>
          <a:prstGeom prst="ellipse">
            <a:avLst/>
          </a:prstGeom>
          <a:solidFill>
            <a:srgbClr val="E2EDED"/>
          </a:solidFill>
          <a:ln/>
        </p:spPr>
      </p:sp>
      <p:pic>
        <p:nvPicPr>
          <p:cNvPr id="14" name="Image 0" descr="preencoded.png">    </p:cNvPr>
          <p:cNvPicPr>
            <a:picLocks noChangeAspect="1"/>
          </p:cNvPicPr>
          <p:nvPr/>
        </p:nvPicPr>
        <p:blipFill>
          <a:blip r:embed="rId1"/>
          <a:stretch>
            <a:fillRect/>
          </a:stretch>
        </p:blipFill>
        <p:spPr>
          <a:xfrm>
            <a:off x="711769" y="3592129"/>
            <a:ext cx="368686" cy="368686"/>
          </a:xfrm>
          <a:prstGeom prst="rect">
            <a:avLst/>
          </a:prstGeom>
        </p:spPr>
      </p:pic>
      <p:sp>
        <p:nvSpPr>
          <p:cNvPr id="15" name="Text 12"/>
          <p:cNvSpPr txBox="1"/>
          <p:nvPr/>
        </p:nvSpPr>
        <p:spPr>
          <a:xfrm>
            <a:off x="1353312" y="3502152"/>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CRM</a:t>
            </a:r>
            <a:endParaRPr lang="en-US" sz="1500" dirty="0"/>
          </a:p>
        </p:txBody>
      </p:sp>
      <p:sp>
        <p:nvSpPr>
          <p:cNvPr id="16" name="Text 13"/>
          <p:cNvSpPr txBox="1"/>
          <p:nvPr/>
        </p:nvSpPr>
        <p:spPr>
          <a:xfrm>
            <a:off x="1353312" y="3813048"/>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Contacts, affaires, activités, rendez-vous</a:t>
            </a:r>
            <a:endParaRPr lang="en-US" sz="1150" dirty="0"/>
          </a:p>
        </p:txBody>
      </p:sp>
      <p:sp>
        <p:nvSpPr>
          <p:cNvPr id="17" name="Shape 14"/>
          <p:cNvSpPr/>
          <p:nvPr/>
        </p:nvSpPr>
        <p:spPr>
          <a:xfrm>
            <a:off x="4379976" y="3520440"/>
            <a:ext cx="512064" cy="512064"/>
          </a:xfrm>
          <a:prstGeom prst="ellipse">
            <a:avLst/>
          </a:prstGeom>
          <a:solidFill>
            <a:srgbClr val="E2EDED"/>
          </a:solidFill>
          <a:ln/>
        </p:spPr>
      </p:sp>
      <p:pic>
        <p:nvPicPr>
          <p:cNvPr id="18" name="Image 1" descr="preencoded.png">    </p:cNvPr>
          <p:cNvPicPr>
            <a:picLocks noChangeAspect="1"/>
          </p:cNvPicPr>
          <p:nvPr/>
        </p:nvPicPr>
        <p:blipFill>
          <a:blip r:embed="rId2"/>
          <a:stretch>
            <a:fillRect/>
          </a:stretch>
        </p:blipFill>
        <p:spPr>
          <a:xfrm>
            <a:off x="4451665" y="3592129"/>
            <a:ext cx="368686" cy="368686"/>
          </a:xfrm>
          <a:prstGeom prst="rect">
            <a:avLst/>
          </a:prstGeom>
        </p:spPr>
      </p:pic>
      <p:sp>
        <p:nvSpPr>
          <p:cNvPr id="19" name="Text 15"/>
          <p:cNvSpPr txBox="1"/>
          <p:nvPr/>
        </p:nvSpPr>
        <p:spPr>
          <a:xfrm>
            <a:off x="5093208" y="3502152"/>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Biens &amp; annonces</a:t>
            </a:r>
            <a:endParaRPr lang="en-US" sz="1500" dirty="0"/>
          </a:p>
        </p:txBody>
      </p:sp>
      <p:sp>
        <p:nvSpPr>
          <p:cNvPr id="20" name="Text 16"/>
          <p:cNvSpPr txBox="1"/>
          <p:nvPr/>
        </p:nvSpPr>
        <p:spPr>
          <a:xfrm>
            <a:off x="5093208" y="3813048"/>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Dossier complet, médias, publication</a:t>
            </a:r>
            <a:endParaRPr lang="en-US" sz="1150" dirty="0"/>
          </a:p>
        </p:txBody>
      </p:sp>
      <p:sp>
        <p:nvSpPr>
          <p:cNvPr id="21" name="Shape 17"/>
          <p:cNvSpPr/>
          <p:nvPr/>
        </p:nvSpPr>
        <p:spPr>
          <a:xfrm>
            <a:off x="8119872" y="3520440"/>
            <a:ext cx="512064" cy="512064"/>
          </a:xfrm>
          <a:prstGeom prst="ellipse">
            <a:avLst/>
          </a:prstGeom>
          <a:solidFill>
            <a:srgbClr val="E2EDED"/>
          </a:solidFill>
          <a:ln/>
        </p:spPr>
      </p:sp>
      <p:pic>
        <p:nvPicPr>
          <p:cNvPr id="22" name="Image 2" descr="preencoded.png">    </p:cNvPr>
          <p:cNvPicPr>
            <a:picLocks noChangeAspect="1"/>
          </p:cNvPicPr>
          <p:nvPr/>
        </p:nvPicPr>
        <p:blipFill>
          <a:blip r:embed="rId3"/>
          <a:stretch>
            <a:fillRect/>
          </a:stretch>
        </p:blipFill>
        <p:spPr>
          <a:xfrm>
            <a:off x="8191561" y="3592129"/>
            <a:ext cx="368686" cy="368686"/>
          </a:xfrm>
          <a:prstGeom prst="rect">
            <a:avLst/>
          </a:prstGeom>
        </p:spPr>
      </p:pic>
      <p:sp>
        <p:nvSpPr>
          <p:cNvPr id="23" name="Text 18"/>
          <p:cNvSpPr txBox="1"/>
          <p:nvPr/>
        </p:nvSpPr>
        <p:spPr>
          <a:xfrm>
            <a:off x="8833104" y="3502152"/>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Gestion locative</a:t>
            </a:r>
            <a:endParaRPr lang="en-US" sz="1500" dirty="0"/>
          </a:p>
        </p:txBody>
      </p:sp>
      <p:sp>
        <p:nvSpPr>
          <p:cNvPr id="24" name="Text 19"/>
          <p:cNvSpPr txBox="1"/>
          <p:nvPr/>
        </p:nvSpPr>
        <p:spPr>
          <a:xfrm>
            <a:off x="8833104" y="3813048"/>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Baux, échéances, paiements, quittances</a:t>
            </a:r>
            <a:endParaRPr lang="en-US" sz="1150" dirty="0"/>
          </a:p>
        </p:txBody>
      </p:sp>
      <p:sp>
        <p:nvSpPr>
          <p:cNvPr id="25" name="Shape 20"/>
          <p:cNvSpPr/>
          <p:nvPr/>
        </p:nvSpPr>
        <p:spPr>
          <a:xfrm>
            <a:off x="640080" y="4727448"/>
            <a:ext cx="512064" cy="512064"/>
          </a:xfrm>
          <a:prstGeom prst="ellipse">
            <a:avLst/>
          </a:prstGeom>
          <a:solidFill>
            <a:srgbClr val="E2EDED"/>
          </a:solidFill>
          <a:ln/>
        </p:spPr>
      </p:sp>
      <p:pic>
        <p:nvPicPr>
          <p:cNvPr id="26" name="Image 3" descr="preencoded.png">    </p:cNvPr>
          <p:cNvPicPr>
            <a:picLocks noChangeAspect="1"/>
          </p:cNvPicPr>
          <p:nvPr/>
        </p:nvPicPr>
        <p:blipFill>
          <a:blip r:embed="rId4"/>
          <a:stretch>
            <a:fillRect/>
          </a:stretch>
        </p:blipFill>
        <p:spPr>
          <a:xfrm>
            <a:off x="711769" y="4799137"/>
            <a:ext cx="368686" cy="368686"/>
          </a:xfrm>
          <a:prstGeom prst="rect">
            <a:avLst/>
          </a:prstGeom>
        </p:spPr>
      </p:pic>
      <p:sp>
        <p:nvSpPr>
          <p:cNvPr id="27" name="Text 21"/>
          <p:cNvSpPr txBox="1"/>
          <p:nvPr/>
        </p:nvSpPr>
        <p:spPr>
          <a:xfrm>
            <a:off x="1353312" y="4709160"/>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Maintenance</a:t>
            </a:r>
            <a:endParaRPr lang="en-US" sz="1500" dirty="0"/>
          </a:p>
        </p:txBody>
      </p:sp>
      <p:sp>
        <p:nvSpPr>
          <p:cNvPr id="28" name="Text 22"/>
          <p:cNvSpPr txBox="1"/>
          <p:nvPr/>
        </p:nvSpPr>
        <p:spPr>
          <a:xfrm>
            <a:off x="1353312" y="5020056"/>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Tickets, prestataires, suivi</a:t>
            </a:r>
            <a:endParaRPr lang="en-US" sz="1150" dirty="0"/>
          </a:p>
        </p:txBody>
      </p:sp>
      <p:sp>
        <p:nvSpPr>
          <p:cNvPr id="29" name="Shape 23"/>
          <p:cNvSpPr/>
          <p:nvPr/>
        </p:nvSpPr>
        <p:spPr>
          <a:xfrm>
            <a:off x="4379976" y="4727448"/>
            <a:ext cx="512064" cy="512064"/>
          </a:xfrm>
          <a:prstGeom prst="ellipse">
            <a:avLst/>
          </a:prstGeom>
          <a:solidFill>
            <a:srgbClr val="E2EDED"/>
          </a:solidFill>
          <a:ln/>
        </p:spPr>
      </p:sp>
      <p:pic>
        <p:nvPicPr>
          <p:cNvPr id="30" name="Image 4" descr="preencoded.png">    </p:cNvPr>
          <p:cNvPicPr>
            <a:picLocks noChangeAspect="1"/>
          </p:cNvPicPr>
          <p:nvPr/>
        </p:nvPicPr>
        <p:blipFill>
          <a:blip r:embed="rId5"/>
          <a:stretch>
            <a:fillRect/>
          </a:stretch>
        </p:blipFill>
        <p:spPr>
          <a:xfrm>
            <a:off x="4451665" y="4799137"/>
            <a:ext cx="368686" cy="368686"/>
          </a:xfrm>
          <a:prstGeom prst="rect">
            <a:avLst/>
          </a:prstGeom>
        </p:spPr>
      </p:pic>
      <p:sp>
        <p:nvSpPr>
          <p:cNvPr id="31" name="Text 24"/>
          <p:cNvSpPr txBox="1"/>
          <p:nvPr/>
        </p:nvSpPr>
        <p:spPr>
          <a:xfrm>
            <a:off x="5093208" y="4709160"/>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Portails clients</a:t>
            </a:r>
            <a:endParaRPr lang="en-US" sz="1500" dirty="0"/>
          </a:p>
        </p:txBody>
      </p:sp>
      <p:sp>
        <p:nvSpPr>
          <p:cNvPr id="32" name="Text 25"/>
          <p:cNvSpPr txBox="1"/>
          <p:nvPr/>
        </p:nvSpPr>
        <p:spPr>
          <a:xfrm>
            <a:off x="5093208" y="5020056"/>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Locataire et propriétaire</a:t>
            </a:r>
            <a:endParaRPr lang="en-US" sz="1150" dirty="0"/>
          </a:p>
        </p:txBody>
      </p:sp>
      <p:sp>
        <p:nvSpPr>
          <p:cNvPr id="33" name="Shape 26"/>
          <p:cNvSpPr/>
          <p:nvPr/>
        </p:nvSpPr>
        <p:spPr>
          <a:xfrm>
            <a:off x="8119872" y="4727448"/>
            <a:ext cx="512064" cy="512064"/>
          </a:xfrm>
          <a:prstGeom prst="ellipse">
            <a:avLst/>
          </a:prstGeom>
          <a:solidFill>
            <a:srgbClr val="E2EDED"/>
          </a:solidFill>
          <a:ln/>
        </p:spPr>
      </p:sp>
      <p:pic>
        <p:nvPicPr>
          <p:cNvPr id="34" name="Image 5" descr="preencoded.png">    </p:cNvPr>
          <p:cNvPicPr>
            <a:picLocks noChangeAspect="1"/>
          </p:cNvPicPr>
          <p:nvPr/>
        </p:nvPicPr>
        <p:blipFill>
          <a:blip r:embed="rId6"/>
          <a:stretch>
            <a:fillRect/>
          </a:stretch>
        </p:blipFill>
        <p:spPr>
          <a:xfrm>
            <a:off x="8191561" y="4799137"/>
            <a:ext cx="368686" cy="368686"/>
          </a:xfrm>
          <a:prstGeom prst="rect">
            <a:avLst/>
          </a:prstGeom>
        </p:spPr>
      </p:pic>
      <p:sp>
        <p:nvSpPr>
          <p:cNvPr id="35" name="Text 27"/>
          <p:cNvSpPr txBox="1"/>
          <p:nvPr/>
        </p:nvSpPr>
        <p:spPr>
          <a:xfrm>
            <a:off x="8833104" y="4709160"/>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Communication</a:t>
            </a:r>
            <a:endParaRPr lang="en-US" sz="1500" dirty="0"/>
          </a:p>
        </p:txBody>
      </p:sp>
      <p:sp>
        <p:nvSpPr>
          <p:cNvPr id="36" name="Text 28"/>
          <p:cNvSpPr txBox="1"/>
          <p:nvPr/>
        </p:nvSpPr>
        <p:spPr>
          <a:xfrm>
            <a:off x="8833104" y="5020056"/>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E-mail, WhatsApp, newsletter</a:t>
            </a:r>
            <a:endParaRPr lang="en-US" sz="1150" dirty="0"/>
          </a:p>
        </p:txBody>
      </p:sp>
      <p:sp>
        <p:nvSpPr>
          <p:cNvPr id="37" name="Text 29"/>
          <p:cNvSpPr txBox="1"/>
          <p:nvPr/>
        </p:nvSpPr>
        <p:spPr>
          <a:xfrm>
            <a:off x="640080" y="6035040"/>
            <a:ext cx="10881360" cy="310896"/>
          </a:xfrm>
          <a:prstGeom prst="rect">
            <a:avLst/>
          </a:prstGeom>
          <a:noFill/>
          <a:ln/>
        </p:spPr>
        <p:txBody>
          <a:bodyPr wrap="square" lIns="0" tIns="0" rIns="0" bIns="0" rtlCol="0" anchor="ctr"/>
          <a:lstStyle/>
          <a:p>
            <a:pPr indent="0" marL="0">
              <a:buNone/>
            </a:pPr>
            <a:r>
              <a:rPr lang="en-US" sz="1250" dirty="0">
                <a:solidFill>
                  <a:srgbClr val="7C8788"/>
                </a:solidFill>
                <a:latin typeface="Calibri" pitchFamily="34" charset="0"/>
                <a:ea typeface="Calibri" pitchFamily="34" charset="-122"/>
                <a:cs typeface="Calibri" pitchFamily="34" charset="-120"/>
              </a:rPr>
              <a:t>Extensions activables selon votre activité :  </a:t>
            </a:r>
            <a:pPr indent="0" marL="0">
              <a:buNone/>
            </a:pPr>
            <a:r>
              <a:rPr lang="en-US" sz="1250" b="1" dirty="0">
                <a:solidFill>
                  <a:srgbClr val="0E5C61"/>
                </a:solidFill>
                <a:latin typeface="Calibri" pitchFamily="34" charset="0"/>
                <a:ea typeface="Calibri" pitchFamily="34" charset="-122"/>
                <a:cs typeface="Calibri" pitchFamily="34" charset="-120"/>
              </a:rPr>
              <a:t>Syndic de copropriété</a:t>
            </a:r>
            <a:pPr indent="0" marL="0">
              <a:buNone/>
            </a:pPr>
            <a:r>
              <a:rPr lang="en-US" sz="1250" dirty="0">
                <a:solidFill>
                  <a:srgbClr val="7C8788"/>
                </a:solidFill>
                <a:latin typeface="Calibri" pitchFamily="34" charset="0"/>
                <a:ea typeface="Calibri" pitchFamily="34" charset="-122"/>
                <a:cs typeface="Calibri" pitchFamily="34" charset="-120"/>
              </a:rPr>
              <a:t>   ·   </a:t>
            </a:r>
            <a:pPr indent="0" marL="0">
              <a:buNone/>
            </a:pPr>
            <a:r>
              <a:rPr lang="en-US" sz="1250" b="1" dirty="0">
                <a:solidFill>
                  <a:srgbClr val="0E5C61"/>
                </a:solidFill>
                <a:latin typeface="Calibri" pitchFamily="34" charset="0"/>
                <a:ea typeface="Calibri" pitchFamily="34" charset="-122"/>
                <a:cs typeface="Calibri" pitchFamily="34" charset="-120"/>
              </a:rPr>
              <a:t>Gestion de patrimoine</a:t>
            </a:r>
            <a:endParaRPr lang="en-US" sz="1250" dirty="0"/>
          </a:p>
        </p:txBody>
      </p:sp>
      <p:sp>
        <p:nvSpPr>
          <p:cNvPr id="38" name="Text 30"/>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MODULE CRM</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Plus une seule demande entrante ne se perd.</a:t>
            </a:r>
            <a:endParaRPr lang="en-US" sz="3100" dirty="0"/>
          </a:p>
        </p:txBody>
      </p:sp>
      <p:sp>
        <p:nvSpPr>
          <p:cNvPr id="4" name="Shape 2"/>
          <p:cNvSpPr/>
          <p:nvPr/>
        </p:nvSpPr>
        <p:spPr>
          <a:xfrm>
            <a:off x="640080" y="1737360"/>
            <a:ext cx="475488" cy="475488"/>
          </a:xfrm>
          <a:prstGeom prst="ellipse">
            <a:avLst/>
          </a:prstGeom>
          <a:solidFill>
            <a:srgbClr val="E2EDED"/>
          </a:solidFill>
          <a:ln/>
        </p:spPr>
      </p:sp>
      <p:pic>
        <p:nvPicPr>
          <p:cNvPr id="5" name="Image 0" descr="preencoded.png">    </p:cNvPr>
          <p:cNvPicPr>
            <a:picLocks noChangeAspect="1"/>
          </p:cNvPicPr>
          <p:nvPr/>
        </p:nvPicPr>
        <p:blipFill>
          <a:blip r:embed="rId1"/>
          <a:stretch>
            <a:fillRect/>
          </a:stretch>
        </p:blipFill>
        <p:spPr>
          <a:xfrm>
            <a:off x="706648" y="1803928"/>
            <a:ext cx="342351" cy="342351"/>
          </a:xfrm>
          <a:prstGeom prst="rect">
            <a:avLst/>
          </a:prstGeom>
        </p:spPr>
      </p:pic>
      <p:sp>
        <p:nvSpPr>
          <p:cNvPr id="6" name="Text 3"/>
          <p:cNvSpPr txBox="1"/>
          <p:nvPr/>
        </p:nvSpPr>
        <p:spPr>
          <a:xfrm>
            <a:off x="1298448" y="1709928"/>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Fiche contact unique</a:t>
            </a:r>
            <a:endParaRPr lang="en-US" sz="1400" dirty="0"/>
          </a:p>
        </p:txBody>
      </p:sp>
      <p:sp>
        <p:nvSpPr>
          <p:cNvPr id="7" name="Text 4"/>
          <p:cNvSpPr txBox="1"/>
          <p:nvPr/>
        </p:nvSpPr>
        <p:spPr>
          <a:xfrm>
            <a:off x="1298448" y="2002536"/>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Statut prospect, client actif ou archivé, rôles et étiquettes de couleur.</a:t>
            </a:r>
            <a:endParaRPr lang="en-US" sz="1150" dirty="0"/>
          </a:p>
        </p:txBody>
      </p:sp>
      <p:sp>
        <p:nvSpPr>
          <p:cNvPr id="8" name="Shape 5"/>
          <p:cNvSpPr/>
          <p:nvPr/>
        </p:nvSpPr>
        <p:spPr>
          <a:xfrm>
            <a:off x="6245352" y="1737360"/>
            <a:ext cx="475488" cy="475488"/>
          </a:xfrm>
          <a:prstGeom prst="ellipse">
            <a:avLst/>
          </a:prstGeom>
          <a:solidFill>
            <a:srgbClr val="E2EDED"/>
          </a:solidFill>
          <a:ln/>
        </p:spPr>
      </p:sp>
      <p:pic>
        <p:nvPicPr>
          <p:cNvPr id="9" name="Image 1" descr="preencoded.png">    </p:cNvPr>
          <p:cNvPicPr>
            <a:picLocks noChangeAspect="1"/>
          </p:cNvPicPr>
          <p:nvPr/>
        </p:nvPicPr>
        <p:blipFill>
          <a:blip r:embed="rId2"/>
          <a:stretch>
            <a:fillRect/>
          </a:stretch>
        </p:blipFill>
        <p:spPr>
          <a:xfrm>
            <a:off x="6311920" y="1803928"/>
            <a:ext cx="342351" cy="342351"/>
          </a:xfrm>
          <a:prstGeom prst="rect">
            <a:avLst/>
          </a:prstGeom>
        </p:spPr>
      </p:pic>
      <p:sp>
        <p:nvSpPr>
          <p:cNvPr id="10" name="Text 6"/>
          <p:cNvSpPr txBox="1"/>
          <p:nvPr/>
        </p:nvSpPr>
        <p:spPr>
          <a:xfrm>
            <a:off x="6903720" y="1709928"/>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Historique complet</a:t>
            </a:r>
            <a:endParaRPr lang="en-US" sz="1400" dirty="0"/>
          </a:p>
        </p:txBody>
      </p:sp>
      <p:sp>
        <p:nvSpPr>
          <p:cNvPr id="11" name="Text 7"/>
          <p:cNvSpPr txBox="1"/>
          <p:nvPr/>
        </p:nvSpPr>
        <p:spPr>
          <a:xfrm>
            <a:off x="6903720" y="2002536"/>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Appels, e-mails, SMS, WhatsApp, visites, réunions, notes et tâches.</a:t>
            </a:r>
            <a:endParaRPr lang="en-US" sz="1150" dirty="0"/>
          </a:p>
        </p:txBody>
      </p:sp>
      <p:sp>
        <p:nvSpPr>
          <p:cNvPr id="12" name="Shape 8"/>
          <p:cNvSpPr/>
          <p:nvPr/>
        </p:nvSpPr>
        <p:spPr>
          <a:xfrm>
            <a:off x="640080" y="2706624"/>
            <a:ext cx="475488" cy="475488"/>
          </a:xfrm>
          <a:prstGeom prst="ellipse">
            <a:avLst/>
          </a:prstGeom>
          <a:solidFill>
            <a:srgbClr val="E2EDED"/>
          </a:solidFill>
          <a:ln/>
        </p:spPr>
      </p:sp>
      <p:pic>
        <p:nvPicPr>
          <p:cNvPr id="13" name="Image 2" descr="preencoded.png">    </p:cNvPr>
          <p:cNvPicPr>
            <a:picLocks noChangeAspect="1"/>
          </p:cNvPicPr>
          <p:nvPr/>
        </p:nvPicPr>
        <p:blipFill>
          <a:blip r:embed="rId3"/>
          <a:stretch>
            <a:fillRect/>
          </a:stretch>
        </p:blipFill>
        <p:spPr>
          <a:xfrm>
            <a:off x="706648" y="2773192"/>
            <a:ext cx="342351" cy="342351"/>
          </a:xfrm>
          <a:prstGeom prst="rect">
            <a:avLst/>
          </a:prstGeom>
        </p:spPr>
      </p:pic>
      <p:sp>
        <p:nvSpPr>
          <p:cNvPr id="14" name="Text 9"/>
          <p:cNvSpPr txBox="1"/>
          <p:nvPr/>
        </p:nvSpPr>
        <p:spPr>
          <a:xfrm>
            <a:off x="1298448" y="2679192"/>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Agenda partagé</a:t>
            </a:r>
            <a:endParaRPr lang="en-US" sz="1400" dirty="0"/>
          </a:p>
        </p:txBody>
      </p:sp>
      <p:sp>
        <p:nvSpPr>
          <p:cNvPr id="15" name="Text 10"/>
          <p:cNvSpPr txBox="1"/>
          <p:nvPr/>
        </p:nvSpPr>
        <p:spPr>
          <a:xfrm>
            <a:off x="1298448" y="2971800"/>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Rendez-vous et visites, avec les collaborateurs concernés.</a:t>
            </a:r>
            <a:endParaRPr lang="en-US" sz="1150" dirty="0"/>
          </a:p>
        </p:txBody>
      </p:sp>
      <p:sp>
        <p:nvSpPr>
          <p:cNvPr id="16" name="Shape 11"/>
          <p:cNvSpPr/>
          <p:nvPr/>
        </p:nvSpPr>
        <p:spPr>
          <a:xfrm>
            <a:off x="6245352" y="2706624"/>
            <a:ext cx="475488" cy="475488"/>
          </a:xfrm>
          <a:prstGeom prst="ellipse">
            <a:avLst/>
          </a:prstGeom>
          <a:solidFill>
            <a:srgbClr val="E2EDED"/>
          </a:solidFill>
          <a:ln/>
        </p:spPr>
      </p:sp>
      <p:pic>
        <p:nvPicPr>
          <p:cNvPr id="17" name="Image 3" descr="preencoded.png">    </p:cNvPr>
          <p:cNvPicPr>
            <a:picLocks noChangeAspect="1"/>
          </p:cNvPicPr>
          <p:nvPr/>
        </p:nvPicPr>
        <p:blipFill>
          <a:blip r:embed="rId4"/>
          <a:stretch>
            <a:fillRect/>
          </a:stretch>
        </p:blipFill>
        <p:spPr>
          <a:xfrm>
            <a:off x="6311920" y="2773192"/>
            <a:ext cx="342351" cy="342351"/>
          </a:xfrm>
          <a:prstGeom prst="rect">
            <a:avLst/>
          </a:prstGeom>
        </p:spPr>
      </p:pic>
      <p:sp>
        <p:nvSpPr>
          <p:cNvPr id="18" name="Text 12"/>
          <p:cNvSpPr txBox="1"/>
          <p:nvPr/>
        </p:nvSpPr>
        <p:spPr>
          <a:xfrm>
            <a:off x="6903720" y="2679192"/>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Rapprochement automatique</a:t>
            </a:r>
            <a:endParaRPr lang="en-US" sz="1400" dirty="0"/>
          </a:p>
        </p:txBody>
      </p:sp>
      <p:sp>
        <p:nvSpPr>
          <p:cNvPr id="19" name="Text 13"/>
          <p:cNvSpPr txBox="1"/>
          <p:nvPr/>
        </p:nvSpPr>
        <p:spPr>
          <a:xfrm>
            <a:off x="6903720" y="2971800"/>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Le besoin du client confronté aux biens disponibles, en une sélection.</a:t>
            </a:r>
            <a:endParaRPr lang="en-US" sz="1150" dirty="0"/>
          </a:p>
        </p:txBody>
      </p:sp>
      <p:sp>
        <p:nvSpPr>
          <p:cNvPr id="20" name="Shape 14"/>
          <p:cNvSpPr/>
          <p:nvPr/>
        </p:nvSpPr>
        <p:spPr>
          <a:xfrm>
            <a:off x="640080" y="3675888"/>
            <a:ext cx="475488" cy="475488"/>
          </a:xfrm>
          <a:prstGeom prst="ellipse">
            <a:avLst/>
          </a:prstGeom>
          <a:solidFill>
            <a:srgbClr val="E2EDED"/>
          </a:solidFill>
          <a:ln/>
        </p:spPr>
      </p:sp>
      <p:pic>
        <p:nvPicPr>
          <p:cNvPr id="21" name="Image 4" descr="preencoded.png">    </p:cNvPr>
          <p:cNvPicPr>
            <a:picLocks noChangeAspect="1"/>
          </p:cNvPicPr>
          <p:nvPr/>
        </p:nvPicPr>
        <p:blipFill>
          <a:blip r:embed="rId5"/>
          <a:stretch>
            <a:fillRect/>
          </a:stretch>
        </p:blipFill>
        <p:spPr>
          <a:xfrm>
            <a:off x="706648" y="3742456"/>
            <a:ext cx="342351" cy="342351"/>
          </a:xfrm>
          <a:prstGeom prst="rect">
            <a:avLst/>
          </a:prstGeom>
        </p:spPr>
      </p:pic>
      <p:sp>
        <p:nvSpPr>
          <p:cNvPr id="22" name="Text 15"/>
          <p:cNvSpPr txBox="1"/>
          <p:nvPr/>
        </p:nvSpPr>
        <p:spPr>
          <a:xfrm>
            <a:off x="1298448" y="3648456"/>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Tableau de bord commercial</a:t>
            </a:r>
            <a:endParaRPr lang="en-US" sz="1400" dirty="0"/>
          </a:p>
        </p:txBody>
      </p:sp>
      <p:sp>
        <p:nvSpPr>
          <p:cNvPr id="23" name="Text 16"/>
          <p:cNvSpPr txBox="1"/>
          <p:nvPr/>
        </p:nvSpPr>
        <p:spPr>
          <a:xfrm>
            <a:off x="1298448" y="3941064"/>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Volume d'affaires en cours, par étape et par négociateur.</a:t>
            </a:r>
            <a:endParaRPr lang="en-US" sz="1150" dirty="0"/>
          </a:p>
        </p:txBody>
      </p:sp>
      <p:sp>
        <p:nvSpPr>
          <p:cNvPr id="24" name="Shape 17"/>
          <p:cNvSpPr/>
          <p:nvPr/>
        </p:nvSpPr>
        <p:spPr>
          <a:xfrm>
            <a:off x="6245352" y="3675888"/>
            <a:ext cx="475488" cy="475488"/>
          </a:xfrm>
          <a:prstGeom prst="ellipse">
            <a:avLst/>
          </a:prstGeom>
          <a:solidFill>
            <a:srgbClr val="E2EDED"/>
          </a:solidFill>
          <a:ln/>
        </p:spPr>
      </p:sp>
      <p:pic>
        <p:nvPicPr>
          <p:cNvPr id="25" name="Image 5" descr="preencoded.png">    </p:cNvPr>
          <p:cNvPicPr>
            <a:picLocks noChangeAspect="1"/>
          </p:cNvPicPr>
          <p:nvPr/>
        </p:nvPicPr>
        <p:blipFill>
          <a:blip r:embed="rId6"/>
          <a:stretch>
            <a:fillRect/>
          </a:stretch>
        </p:blipFill>
        <p:spPr>
          <a:xfrm>
            <a:off x="6311920" y="3742456"/>
            <a:ext cx="342351" cy="342351"/>
          </a:xfrm>
          <a:prstGeom prst="rect">
            <a:avLst/>
          </a:prstGeom>
        </p:spPr>
      </p:pic>
      <p:sp>
        <p:nvSpPr>
          <p:cNvPr id="26" name="Text 18"/>
          <p:cNvSpPr txBox="1"/>
          <p:nvPr/>
        </p:nvSpPr>
        <p:spPr>
          <a:xfrm>
            <a:off x="6903720" y="3648456"/>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Groupes de clients</a:t>
            </a:r>
            <a:endParaRPr lang="en-US" sz="1400" dirty="0"/>
          </a:p>
        </p:txBody>
      </p:sp>
      <p:sp>
        <p:nvSpPr>
          <p:cNvPr id="27" name="Text 19"/>
          <p:cNvSpPr txBox="1"/>
          <p:nvPr/>
        </p:nvSpPr>
        <p:spPr>
          <a:xfrm>
            <a:off x="6903720" y="3941064"/>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Segmentez pour relancer par lot, sans ressaisir de liste.</a:t>
            </a:r>
            <a:endParaRPr lang="en-US" sz="1150" dirty="0"/>
          </a:p>
        </p:txBody>
      </p:sp>
      <p:sp>
        <p:nvSpPr>
          <p:cNvPr id="28" name="Text 20"/>
          <p:cNvSpPr txBox="1"/>
          <p:nvPr/>
        </p:nvSpPr>
        <p:spPr>
          <a:xfrm>
            <a:off x="640080" y="4828032"/>
            <a:ext cx="7315200" cy="292608"/>
          </a:xfrm>
          <a:prstGeom prst="rect">
            <a:avLst/>
          </a:prstGeom>
          <a:noFill/>
          <a:ln/>
        </p:spPr>
        <p:txBody>
          <a:bodyPr wrap="square" lIns="0" tIns="0" rIns="0" bIns="0" rtlCol="0" anchor="ctr"/>
          <a:lstStyle/>
          <a:p>
            <a:pPr indent="0" marL="0">
              <a:buNone/>
            </a:pPr>
            <a:r>
              <a:rPr lang="en-US" sz="1300" b="1" dirty="0">
                <a:solidFill>
                  <a:srgbClr val="14191A"/>
                </a:solidFill>
                <a:latin typeface="Calibri" pitchFamily="34" charset="0"/>
                <a:ea typeface="Calibri" pitchFamily="34" charset="-122"/>
                <a:cs typeface="Calibri" pitchFamily="34" charset="-120"/>
              </a:rPr>
              <a:t>Le parcours d'une affaire, visible par toute l'équipe</a:t>
            </a:r>
            <a:endParaRPr lang="en-US" sz="1300" dirty="0"/>
          </a:p>
        </p:txBody>
      </p:sp>
      <p:sp>
        <p:nvSpPr>
          <p:cNvPr id="29" name="Shape 21"/>
          <p:cNvSpPr/>
          <p:nvPr/>
        </p:nvSpPr>
        <p:spPr>
          <a:xfrm>
            <a:off x="640080" y="5285232"/>
            <a:ext cx="1481328" cy="603504"/>
          </a:xfrm>
          <a:prstGeom prst="roundRect">
            <a:avLst>
              <a:gd name="adj" fmla="val 12121"/>
            </a:avLst>
          </a:prstGeom>
          <a:solidFill>
            <a:srgbClr val="FFFFFF"/>
          </a:solidFill>
          <a:ln w="12700">
            <a:solidFill>
              <a:srgbClr val="C9D4D2"/>
            </a:solidFill>
            <a:prstDash val="solid"/>
          </a:ln>
        </p:spPr>
      </p:sp>
      <p:sp>
        <p:nvSpPr>
          <p:cNvPr id="30" name="Text 22"/>
          <p:cNvSpPr txBox="1"/>
          <p:nvPr/>
        </p:nvSpPr>
        <p:spPr>
          <a:xfrm>
            <a:off x="640080"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Nouveau</a:t>
            </a:r>
            <a:endParaRPr lang="en-US" sz="1150" dirty="0"/>
          </a:p>
        </p:txBody>
      </p:sp>
      <p:sp>
        <p:nvSpPr>
          <p:cNvPr id="31" name="Shape 23"/>
          <p:cNvSpPr/>
          <p:nvPr/>
        </p:nvSpPr>
        <p:spPr>
          <a:xfrm>
            <a:off x="2203704" y="5285232"/>
            <a:ext cx="1481328" cy="603504"/>
          </a:xfrm>
          <a:prstGeom prst="roundRect">
            <a:avLst>
              <a:gd name="adj" fmla="val 12121"/>
            </a:avLst>
          </a:prstGeom>
          <a:solidFill>
            <a:srgbClr val="FFFFFF"/>
          </a:solidFill>
          <a:ln w="12700">
            <a:solidFill>
              <a:srgbClr val="C9D4D2"/>
            </a:solidFill>
            <a:prstDash val="solid"/>
          </a:ln>
        </p:spPr>
      </p:sp>
      <p:sp>
        <p:nvSpPr>
          <p:cNvPr id="32" name="Text 24"/>
          <p:cNvSpPr txBox="1"/>
          <p:nvPr/>
        </p:nvSpPr>
        <p:spPr>
          <a:xfrm>
            <a:off x="2203704"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Qualifié</a:t>
            </a:r>
            <a:endParaRPr lang="en-US" sz="1150" dirty="0"/>
          </a:p>
        </p:txBody>
      </p:sp>
      <p:sp>
        <p:nvSpPr>
          <p:cNvPr id="33" name="Shape 25"/>
          <p:cNvSpPr/>
          <p:nvPr/>
        </p:nvSpPr>
        <p:spPr>
          <a:xfrm>
            <a:off x="3767328" y="5285232"/>
            <a:ext cx="1481328" cy="603504"/>
          </a:xfrm>
          <a:prstGeom prst="roundRect">
            <a:avLst>
              <a:gd name="adj" fmla="val 12121"/>
            </a:avLst>
          </a:prstGeom>
          <a:solidFill>
            <a:srgbClr val="FFFFFF"/>
          </a:solidFill>
          <a:ln w="12700">
            <a:solidFill>
              <a:srgbClr val="C9D4D2"/>
            </a:solidFill>
            <a:prstDash val="solid"/>
          </a:ln>
        </p:spPr>
      </p:sp>
      <p:sp>
        <p:nvSpPr>
          <p:cNvPr id="34" name="Text 26"/>
          <p:cNvSpPr txBox="1"/>
          <p:nvPr/>
        </p:nvSpPr>
        <p:spPr>
          <a:xfrm>
            <a:off x="3767328"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Rendez-vous</a:t>
            </a:r>
            <a:endParaRPr lang="en-US" sz="1150" dirty="0"/>
          </a:p>
        </p:txBody>
      </p:sp>
      <p:sp>
        <p:nvSpPr>
          <p:cNvPr id="35" name="Shape 27"/>
          <p:cNvSpPr/>
          <p:nvPr/>
        </p:nvSpPr>
        <p:spPr>
          <a:xfrm>
            <a:off x="5330952" y="5285232"/>
            <a:ext cx="1481328" cy="603504"/>
          </a:xfrm>
          <a:prstGeom prst="roundRect">
            <a:avLst>
              <a:gd name="adj" fmla="val 12121"/>
            </a:avLst>
          </a:prstGeom>
          <a:solidFill>
            <a:srgbClr val="FFFFFF"/>
          </a:solidFill>
          <a:ln w="12700">
            <a:solidFill>
              <a:srgbClr val="C9D4D2"/>
            </a:solidFill>
            <a:prstDash val="solid"/>
          </a:ln>
        </p:spPr>
      </p:sp>
      <p:sp>
        <p:nvSpPr>
          <p:cNvPr id="36" name="Text 28"/>
          <p:cNvSpPr txBox="1"/>
          <p:nvPr/>
        </p:nvSpPr>
        <p:spPr>
          <a:xfrm>
            <a:off x="5330952"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Visite</a:t>
            </a:r>
            <a:endParaRPr lang="en-US" sz="1150" dirty="0"/>
          </a:p>
        </p:txBody>
      </p:sp>
      <p:sp>
        <p:nvSpPr>
          <p:cNvPr id="37" name="Shape 29"/>
          <p:cNvSpPr/>
          <p:nvPr/>
        </p:nvSpPr>
        <p:spPr>
          <a:xfrm>
            <a:off x="6894576" y="5285232"/>
            <a:ext cx="1481328" cy="603504"/>
          </a:xfrm>
          <a:prstGeom prst="roundRect">
            <a:avLst>
              <a:gd name="adj" fmla="val 12121"/>
            </a:avLst>
          </a:prstGeom>
          <a:solidFill>
            <a:srgbClr val="FFFFFF"/>
          </a:solidFill>
          <a:ln w="12700">
            <a:solidFill>
              <a:srgbClr val="C9D4D2"/>
            </a:solidFill>
            <a:prstDash val="solid"/>
          </a:ln>
        </p:spPr>
      </p:sp>
      <p:sp>
        <p:nvSpPr>
          <p:cNvPr id="38" name="Text 30"/>
          <p:cNvSpPr txBox="1"/>
          <p:nvPr/>
        </p:nvSpPr>
        <p:spPr>
          <a:xfrm>
            <a:off x="6894576"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Négociation</a:t>
            </a:r>
            <a:endParaRPr lang="en-US" sz="1150" dirty="0"/>
          </a:p>
        </p:txBody>
      </p:sp>
      <p:sp>
        <p:nvSpPr>
          <p:cNvPr id="39" name="Shape 31"/>
          <p:cNvSpPr/>
          <p:nvPr/>
        </p:nvSpPr>
        <p:spPr>
          <a:xfrm>
            <a:off x="8458200" y="5285232"/>
            <a:ext cx="1481328" cy="603504"/>
          </a:xfrm>
          <a:prstGeom prst="roundRect">
            <a:avLst>
              <a:gd name="adj" fmla="val 12121"/>
            </a:avLst>
          </a:prstGeom>
          <a:solidFill>
            <a:srgbClr val="0E5C61"/>
          </a:solidFill>
          <a:ln w="12700">
            <a:solidFill>
              <a:srgbClr val="0E5C61"/>
            </a:solidFill>
            <a:prstDash val="solid"/>
          </a:ln>
          <a:effectLst>
            <a:outerShdw sx="100000" sy="100000" kx="0" ky="0" algn="bl" rotWithShape="0" blurRad="152400" dist="25400" dir="5400000">
              <a:srgbClr val="0A3F43">
                <a:alpha val="13000"/>
              </a:srgbClr>
            </a:outerShdw>
          </a:effectLst>
        </p:spPr>
      </p:sp>
      <p:sp>
        <p:nvSpPr>
          <p:cNvPr id="40" name="Text 32"/>
          <p:cNvSpPr txBox="1"/>
          <p:nvPr/>
        </p:nvSpPr>
        <p:spPr>
          <a:xfrm>
            <a:off x="8458200" y="5285232"/>
            <a:ext cx="1481328" cy="60350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Gagné</a:t>
            </a:r>
            <a:endParaRPr lang="en-US" sz="1150" dirty="0"/>
          </a:p>
        </p:txBody>
      </p:sp>
      <p:sp>
        <p:nvSpPr>
          <p:cNvPr id="41" name="Shape 33"/>
          <p:cNvSpPr/>
          <p:nvPr/>
        </p:nvSpPr>
        <p:spPr>
          <a:xfrm>
            <a:off x="10021824" y="5285232"/>
            <a:ext cx="1481328" cy="603504"/>
          </a:xfrm>
          <a:prstGeom prst="roundRect">
            <a:avLst>
              <a:gd name="adj" fmla="val 12121"/>
            </a:avLst>
          </a:prstGeom>
          <a:solidFill>
            <a:srgbClr val="FFFFFF"/>
          </a:solidFill>
          <a:ln w="12700">
            <a:solidFill>
              <a:srgbClr val="DDE2DF"/>
            </a:solidFill>
            <a:prstDash val="solid"/>
          </a:ln>
        </p:spPr>
      </p:sp>
      <p:sp>
        <p:nvSpPr>
          <p:cNvPr id="42" name="Text 34"/>
          <p:cNvSpPr txBox="1"/>
          <p:nvPr/>
        </p:nvSpPr>
        <p:spPr>
          <a:xfrm>
            <a:off x="10021824" y="5285232"/>
            <a:ext cx="1481328" cy="603504"/>
          </a:xfrm>
          <a:prstGeom prst="rect">
            <a:avLst/>
          </a:prstGeom>
          <a:noFill/>
          <a:ln/>
        </p:spPr>
        <p:txBody>
          <a:bodyPr wrap="square" lIns="0" tIns="0" rIns="0" bIns="0" rtlCol="0" anchor="ctr"/>
          <a:lstStyle/>
          <a:p>
            <a:pPr algn="ctr" indent="0" marL="0">
              <a:buNone/>
            </a:pPr>
            <a:r>
              <a:rPr lang="en-US" sz="1150" dirty="0">
                <a:solidFill>
                  <a:srgbClr val="7C8788"/>
                </a:solidFill>
                <a:latin typeface="Calibri" pitchFamily="34" charset="0"/>
                <a:ea typeface="Calibri" pitchFamily="34" charset="-122"/>
                <a:cs typeface="Calibri" pitchFamily="34" charset="-120"/>
              </a:rPr>
              <a:t>Perdu</a:t>
            </a:r>
            <a:endParaRPr lang="en-US" sz="1150" dirty="0"/>
          </a:p>
        </p:txBody>
      </p:sp>
      <p:sp>
        <p:nvSpPr>
          <p:cNvPr id="43" name="Text 35"/>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MODULE BIENS</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 dossier complet par bien, prêt à publier.</a:t>
            </a:r>
            <a:endParaRPr lang="en-US" sz="3100" dirty="0"/>
          </a:p>
        </p:txBody>
      </p:sp>
      <p:sp>
        <p:nvSpPr>
          <p:cNvPr id="4" name="Shape 2"/>
          <p:cNvSpPr/>
          <p:nvPr/>
        </p:nvSpPr>
        <p:spPr>
          <a:xfrm>
            <a:off x="640080" y="1783080"/>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987552" y="2130552"/>
            <a:ext cx="530352" cy="530352"/>
          </a:xfrm>
          <a:prstGeom prst="ellipse">
            <a:avLst/>
          </a:prstGeom>
          <a:solidFill>
            <a:srgbClr val="E2EDED"/>
          </a:solidFill>
          <a:ln/>
        </p:spPr>
      </p:sp>
      <p:pic>
        <p:nvPicPr>
          <p:cNvPr id="6" name="Image 0" descr="preencoded.png">    </p:cNvPr>
          <p:cNvPicPr>
            <a:picLocks noChangeAspect="1"/>
          </p:cNvPicPr>
          <p:nvPr/>
        </p:nvPicPr>
        <p:blipFill>
          <a:blip r:embed="rId1"/>
          <a:stretch>
            <a:fillRect/>
          </a:stretch>
        </p:blipFill>
        <p:spPr>
          <a:xfrm>
            <a:off x="1061801" y="2204801"/>
            <a:ext cx="381853" cy="381853"/>
          </a:xfrm>
          <a:prstGeom prst="rect">
            <a:avLst/>
          </a:prstGeom>
        </p:spPr>
      </p:pic>
      <p:sp>
        <p:nvSpPr>
          <p:cNvPr id="7" name="Text 4"/>
          <p:cNvSpPr txBox="1"/>
          <p:nvPr/>
        </p:nvSpPr>
        <p:spPr>
          <a:xfrm>
            <a:off x="987552" y="2770632"/>
            <a:ext cx="2770632" cy="384048"/>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12 types de biens</a:t>
            </a:r>
            <a:endParaRPr lang="en-US" sz="1350" dirty="0"/>
          </a:p>
        </p:txBody>
      </p:sp>
      <p:sp>
        <p:nvSpPr>
          <p:cNvPr id="8" name="Text 5"/>
          <p:cNvSpPr txBox="1"/>
          <p:nvPr/>
        </p:nvSpPr>
        <p:spPr>
          <a:xfrm>
            <a:off x="987552" y="3172968"/>
            <a:ext cx="2770632" cy="5852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Appartement, maison, villa, studio, terrain… avec un formulaire adapté à chaque type.</a:t>
            </a:r>
            <a:endParaRPr lang="en-US" sz="1150" dirty="0"/>
          </a:p>
        </p:txBody>
      </p:sp>
      <p:sp>
        <p:nvSpPr>
          <p:cNvPr id="9" name="Shape 6"/>
          <p:cNvSpPr/>
          <p:nvPr/>
        </p:nvSpPr>
        <p:spPr>
          <a:xfrm>
            <a:off x="4379976" y="1783080"/>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0" name="Shape 7"/>
          <p:cNvSpPr/>
          <p:nvPr/>
        </p:nvSpPr>
        <p:spPr>
          <a:xfrm>
            <a:off x="4727448" y="2130552"/>
            <a:ext cx="530352" cy="530352"/>
          </a:xfrm>
          <a:prstGeom prst="ellipse">
            <a:avLst/>
          </a:prstGeom>
          <a:solidFill>
            <a:srgbClr val="E2EDED"/>
          </a:solidFill>
          <a:ln/>
        </p:spPr>
      </p:sp>
      <p:pic>
        <p:nvPicPr>
          <p:cNvPr id="11" name="Image 1" descr="preencoded.png">    </p:cNvPr>
          <p:cNvPicPr>
            <a:picLocks noChangeAspect="1"/>
          </p:cNvPicPr>
          <p:nvPr/>
        </p:nvPicPr>
        <p:blipFill>
          <a:blip r:embed="rId2"/>
          <a:stretch>
            <a:fillRect/>
          </a:stretch>
        </p:blipFill>
        <p:spPr>
          <a:xfrm>
            <a:off x="4801697" y="2204801"/>
            <a:ext cx="381853" cy="381853"/>
          </a:xfrm>
          <a:prstGeom prst="rect">
            <a:avLst/>
          </a:prstGeom>
        </p:spPr>
      </p:pic>
      <p:sp>
        <p:nvSpPr>
          <p:cNvPr id="12" name="Text 8"/>
          <p:cNvSpPr txBox="1"/>
          <p:nvPr/>
        </p:nvSpPr>
        <p:spPr>
          <a:xfrm>
            <a:off x="4727448" y="2770632"/>
            <a:ext cx="2770632" cy="384048"/>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Vente, location, courte durée</a:t>
            </a:r>
            <a:endParaRPr lang="en-US" sz="1350" dirty="0"/>
          </a:p>
        </p:txBody>
      </p:sp>
      <p:sp>
        <p:nvSpPr>
          <p:cNvPr id="13" name="Text 9"/>
          <p:cNvSpPr txBox="1"/>
          <p:nvPr/>
        </p:nvSpPr>
        <p:spPr>
          <a:xfrm>
            <a:off x="4727448" y="3172968"/>
            <a:ext cx="2770632" cy="5852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Un même bien peut cumuler plusieurs modes de commercialisation.</a:t>
            </a:r>
            <a:endParaRPr lang="en-US" sz="1150" dirty="0"/>
          </a:p>
        </p:txBody>
      </p:sp>
      <p:sp>
        <p:nvSpPr>
          <p:cNvPr id="14" name="Shape 10"/>
          <p:cNvSpPr/>
          <p:nvPr/>
        </p:nvSpPr>
        <p:spPr>
          <a:xfrm>
            <a:off x="8119872" y="1783080"/>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5" name="Shape 11"/>
          <p:cNvSpPr/>
          <p:nvPr/>
        </p:nvSpPr>
        <p:spPr>
          <a:xfrm>
            <a:off x="8467344" y="2130552"/>
            <a:ext cx="530352" cy="530352"/>
          </a:xfrm>
          <a:prstGeom prst="ellipse">
            <a:avLst/>
          </a:prstGeom>
          <a:solidFill>
            <a:srgbClr val="E2EDED"/>
          </a:solidFill>
          <a:ln/>
        </p:spPr>
      </p:sp>
      <p:pic>
        <p:nvPicPr>
          <p:cNvPr id="16" name="Image 2" descr="preencoded.png">    </p:cNvPr>
          <p:cNvPicPr>
            <a:picLocks noChangeAspect="1"/>
          </p:cNvPicPr>
          <p:nvPr/>
        </p:nvPicPr>
        <p:blipFill>
          <a:blip r:embed="rId3"/>
          <a:stretch>
            <a:fillRect/>
          </a:stretch>
        </p:blipFill>
        <p:spPr>
          <a:xfrm>
            <a:off x="8541593" y="2204801"/>
            <a:ext cx="381853" cy="381853"/>
          </a:xfrm>
          <a:prstGeom prst="rect">
            <a:avLst/>
          </a:prstGeom>
        </p:spPr>
      </p:pic>
      <p:sp>
        <p:nvSpPr>
          <p:cNvPr id="17" name="Text 12"/>
          <p:cNvSpPr txBox="1"/>
          <p:nvPr/>
        </p:nvSpPr>
        <p:spPr>
          <a:xfrm>
            <a:off x="8467344" y="2770632"/>
            <a:ext cx="2770632" cy="384048"/>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Photos, vidéos, visites 360°</a:t>
            </a:r>
            <a:endParaRPr lang="en-US" sz="1350" dirty="0"/>
          </a:p>
        </p:txBody>
      </p:sp>
      <p:sp>
        <p:nvSpPr>
          <p:cNvPr id="18" name="Text 13"/>
          <p:cNvSpPr txBox="1"/>
          <p:nvPr/>
        </p:nvSpPr>
        <p:spPr>
          <a:xfrm>
            <a:off x="8467344" y="3172968"/>
            <a:ext cx="2770632" cy="5852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Photo principale, ordre d'affichage, galerie prête pour l'annonce.</a:t>
            </a:r>
            <a:endParaRPr lang="en-US" sz="1150" dirty="0"/>
          </a:p>
        </p:txBody>
      </p:sp>
      <p:sp>
        <p:nvSpPr>
          <p:cNvPr id="19" name="Shape 14"/>
          <p:cNvSpPr/>
          <p:nvPr/>
        </p:nvSpPr>
        <p:spPr>
          <a:xfrm>
            <a:off x="640080" y="4050792"/>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0" name="Shape 15"/>
          <p:cNvSpPr/>
          <p:nvPr/>
        </p:nvSpPr>
        <p:spPr>
          <a:xfrm>
            <a:off x="987552" y="4398264"/>
            <a:ext cx="530352" cy="530352"/>
          </a:xfrm>
          <a:prstGeom prst="ellipse">
            <a:avLst/>
          </a:prstGeom>
          <a:solidFill>
            <a:srgbClr val="E2EDED"/>
          </a:solidFill>
          <a:ln/>
        </p:spPr>
      </p:sp>
      <p:pic>
        <p:nvPicPr>
          <p:cNvPr id="21" name="Image 3" descr="preencoded.png">    </p:cNvPr>
          <p:cNvPicPr>
            <a:picLocks noChangeAspect="1"/>
          </p:cNvPicPr>
          <p:nvPr/>
        </p:nvPicPr>
        <p:blipFill>
          <a:blip r:embed="rId4"/>
          <a:stretch>
            <a:fillRect/>
          </a:stretch>
        </p:blipFill>
        <p:spPr>
          <a:xfrm>
            <a:off x="1061801" y="4472513"/>
            <a:ext cx="381853" cy="381853"/>
          </a:xfrm>
          <a:prstGeom prst="rect">
            <a:avLst/>
          </a:prstGeom>
        </p:spPr>
      </p:pic>
      <p:sp>
        <p:nvSpPr>
          <p:cNvPr id="22" name="Text 16"/>
          <p:cNvSpPr txBox="1"/>
          <p:nvPr/>
        </p:nvSpPr>
        <p:spPr>
          <a:xfrm>
            <a:off x="987552" y="5038344"/>
            <a:ext cx="2770632" cy="384048"/>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Documents du bien</a:t>
            </a:r>
            <a:endParaRPr lang="en-US" sz="1350" dirty="0"/>
          </a:p>
        </p:txBody>
      </p:sp>
      <p:sp>
        <p:nvSpPr>
          <p:cNvPr id="23" name="Text 17"/>
          <p:cNvSpPr txBox="1"/>
          <p:nvPr/>
        </p:nvSpPr>
        <p:spPr>
          <a:xfrm>
            <a:off x="987552" y="5440680"/>
            <a:ext cx="2770632" cy="5852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Titre foncier, mandat, plan, pièces fiscales — avec date d'expiration et alerte.</a:t>
            </a:r>
            <a:endParaRPr lang="en-US" sz="1150" dirty="0"/>
          </a:p>
        </p:txBody>
      </p:sp>
      <p:sp>
        <p:nvSpPr>
          <p:cNvPr id="24" name="Shape 18"/>
          <p:cNvSpPr/>
          <p:nvPr/>
        </p:nvSpPr>
        <p:spPr>
          <a:xfrm>
            <a:off x="4379976" y="4050792"/>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5" name="Shape 19"/>
          <p:cNvSpPr/>
          <p:nvPr/>
        </p:nvSpPr>
        <p:spPr>
          <a:xfrm>
            <a:off x="4727448" y="4398264"/>
            <a:ext cx="530352" cy="530352"/>
          </a:xfrm>
          <a:prstGeom prst="ellipse">
            <a:avLst/>
          </a:prstGeom>
          <a:solidFill>
            <a:srgbClr val="E2EDED"/>
          </a:solidFill>
          <a:ln/>
        </p:spPr>
      </p:sp>
      <p:pic>
        <p:nvPicPr>
          <p:cNvPr id="26" name="Image 4" descr="preencoded.png">    </p:cNvPr>
          <p:cNvPicPr>
            <a:picLocks noChangeAspect="1"/>
          </p:cNvPicPr>
          <p:nvPr/>
        </p:nvPicPr>
        <p:blipFill>
          <a:blip r:embed="rId5"/>
          <a:stretch>
            <a:fillRect/>
          </a:stretch>
        </p:blipFill>
        <p:spPr>
          <a:xfrm>
            <a:off x="4801697" y="4472513"/>
            <a:ext cx="381853" cy="381853"/>
          </a:xfrm>
          <a:prstGeom prst="rect">
            <a:avLst/>
          </a:prstGeom>
        </p:spPr>
      </p:pic>
      <p:sp>
        <p:nvSpPr>
          <p:cNvPr id="27" name="Text 20"/>
          <p:cNvSpPr txBox="1"/>
          <p:nvPr/>
        </p:nvSpPr>
        <p:spPr>
          <a:xfrm>
            <a:off x="4727448" y="5038344"/>
            <a:ext cx="2770632" cy="384048"/>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Cycle de vie suivi</a:t>
            </a:r>
            <a:endParaRPr lang="en-US" sz="1350" dirty="0"/>
          </a:p>
        </p:txBody>
      </p:sp>
      <p:sp>
        <p:nvSpPr>
          <p:cNvPr id="28" name="Text 21"/>
          <p:cNvSpPr txBox="1"/>
          <p:nvPr/>
        </p:nvSpPr>
        <p:spPr>
          <a:xfrm>
            <a:off x="4727448" y="5440680"/>
            <a:ext cx="2770632" cy="5852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Brouillon, disponible, réservé, loué ou vendu, archivé — chaque changement daté.</a:t>
            </a:r>
            <a:endParaRPr lang="en-US" sz="1150" dirty="0"/>
          </a:p>
        </p:txBody>
      </p:sp>
      <p:sp>
        <p:nvSpPr>
          <p:cNvPr id="29" name="Shape 22"/>
          <p:cNvSpPr/>
          <p:nvPr/>
        </p:nvSpPr>
        <p:spPr>
          <a:xfrm>
            <a:off x="8119872" y="4050792"/>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30" name="Shape 23"/>
          <p:cNvSpPr/>
          <p:nvPr/>
        </p:nvSpPr>
        <p:spPr>
          <a:xfrm>
            <a:off x="8467344" y="4398264"/>
            <a:ext cx="530352" cy="530352"/>
          </a:xfrm>
          <a:prstGeom prst="ellipse">
            <a:avLst/>
          </a:prstGeom>
          <a:solidFill>
            <a:srgbClr val="E2EDED"/>
          </a:solidFill>
          <a:ln/>
        </p:spPr>
      </p:sp>
      <p:pic>
        <p:nvPicPr>
          <p:cNvPr id="31" name="Image 5" descr="preencoded.png">    </p:cNvPr>
          <p:cNvPicPr>
            <a:picLocks noChangeAspect="1"/>
          </p:cNvPicPr>
          <p:nvPr/>
        </p:nvPicPr>
        <p:blipFill>
          <a:blip r:embed="rId6"/>
          <a:stretch>
            <a:fillRect/>
          </a:stretch>
        </p:blipFill>
        <p:spPr>
          <a:xfrm>
            <a:off x="8541593" y="4472513"/>
            <a:ext cx="381853" cy="381853"/>
          </a:xfrm>
          <a:prstGeom prst="rect">
            <a:avLst/>
          </a:prstGeom>
        </p:spPr>
      </p:pic>
      <p:sp>
        <p:nvSpPr>
          <p:cNvPr id="32" name="Text 24"/>
          <p:cNvSpPr txBox="1"/>
          <p:nvPr/>
        </p:nvSpPr>
        <p:spPr>
          <a:xfrm>
            <a:off x="8467344" y="5038344"/>
            <a:ext cx="2770632" cy="384048"/>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Publication vers votre site</a:t>
            </a:r>
            <a:endParaRPr lang="en-US" sz="1350" dirty="0"/>
          </a:p>
        </p:txBody>
      </p:sp>
      <p:sp>
        <p:nvSpPr>
          <p:cNvPr id="33" name="Text 25"/>
          <p:cNvSpPr txBox="1"/>
          <p:nvPr/>
        </p:nvSpPr>
        <p:spPr>
          <a:xfrm>
            <a:off x="8467344" y="5440680"/>
            <a:ext cx="2770632" cy="5852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Les biens publiés alimentent votre vitrine via une interface dédiée.</a:t>
            </a:r>
            <a:endParaRPr lang="en-US" sz="1150" dirty="0"/>
          </a:p>
        </p:txBody>
      </p:sp>
      <p:sp>
        <p:nvSpPr>
          <p:cNvPr id="34" name="Text 26"/>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GESTION LOCATIVE</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Du bail à la quittance, en cinq temps.</a:t>
            </a:r>
            <a:endParaRPr lang="en-US" sz="3100" dirty="0"/>
          </a:p>
        </p:txBody>
      </p:sp>
      <p:sp>
        <p:nvSpPr>
          <p:cNvPr id="4" name="Shape 2"/>
          <p:cNvSpPr/>
          <p:nvPr/>
        </p:nvSpPr>
        <p:spPr>
          <a:xfrm>
            <a:off x="640080"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932688" y="2048256"/>
            <a:ext cx="512064" cy="512064"/>
          </a:xfrm>
          <a:prstGeom prst="ellipse">
            <a:avLst/>
          </a:prstGeom>
          <a:solidFill>
            <a:srgbClr val="E2EDED"/>
          </a:solidFill>
          <a:ln/>
        </p:spPr>
      </p:sp>
      <p:pic>
        <p:nvPicPr>
          <p:cNvPr id="6" name="Image 0" descr="preencoded.png">    </p:cNvPr>
          <p:cNvPicPr>
            <a:picLocks noChangeAspect="1"/>
          </p:cNvPicPr>
          <p:nvPr/>
        </p:nvPicPr>
        <p:blipFill>
          <a:blip r:embed="rId1"/>
          <a:stretch>
            <a:fillRect/>
          </a:stretch>
        </p:blipFill>
        <p:spPr>
          <a:xfrm>
            <a:off x="1004377" y="2119945"/>
            <a:ext cx="368686" cy="368686"/>
          </a:xfrm>
          <a:prstGeom prst="rect">
            <a:avLst/>
          </a:prstGeom>
        </p:spPr>
      </p:pic>
      <p:sp>
        <p:nvSpPr>
          <p:cNvPr id="7" name="Text 4"/>
          <p:cNvSpPr txBox="1"/>
          <p:nvPr/>
        </p:nvSpPr>
        <p:spPr>
          <a:xfrm>
            <a:off x="2048256"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1</a:t>
            </a:r>
            <a:endParaRPr lang="en-US" sz="1700" dirty="0"/>
          </a:p>
        </p:txBody>
      </p:sp>
      <p:sp>
        <p:nvSpPr>
          <p:cNvPr id="8" name="Text 5"/>
          <p:cNvSpPr txBox="1"/>
          <p:nvPr/>
        </p:nvSpPr>
        <p:spPr>
          <a:xfrm>
            <a:off x="932688"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Le bail</a:t>
            </a:r>
            <a:endParaRPr lang="en-US" sz="1400" dirty="0"/>
          </a:p>
        </p:txBody>
      </p:sp>
      <p:sp>
        <p:nvSpPr>
          <p:cNvPr id="9" name="Text 6"/>
          <p:cNvSpPr txBox="1"/>
          <p:nvPr/>
        </p:nvSpPr>
        <p:spPr>
          <a:xfrm>
            <a:off x="932688"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Colocataires, loyer, charges, périodicité mensuelle à annuelle.</a:t>
            </a:r>
            <a:endParaRPr lang="en-US" sz="1100" dirty="0"/>
          </a:p>
        </p:txBody>
      </p:sp>
      <p:sp>
        <p:nvSpPr>
          <p:cNvPr id="10" name="Shape 7"/>
          <p:cNvSpPr/>
          <p:nvPr/>
        </p:nvSpPr>
        <p:spPr>
          <a:xfrm>
            <a:off x="2862072"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1" name="Shape 8"/>
          <p:cNvSpPr/>
          <p:nvPr/>
        </p:nvSpPr>
        <p:spPr>
          <a:xfrm>
            <a:off x="3154680" y="2048256"/>
            <a:ext cx="512064" cy="512064"/>
          </a:xfrm>
          <a:prstGeom prst="ellipse">
            <a:avLst/>
          </a:prstGeom>
          <a:solidFill>
            <a:srgbClr val="E2EDED"/>
          </a:solidFill>
          <a:ln/>
        </p:spPr>
      </p:sp>
      <p:pic>
        <p:nvPicPr>
          <p:cNvPr id="12" name="Image 1" descr="preencoded.png">    </p:cNvPr>
          <p:cNvPicPr>
            <a:picLocks noChangeAspect="1"/>
          </p:cNvPicPr>
          <p:nvPr/>
        </p:nvPicPr>
        <p:blipFill>
          <a:blip r:embed="rId2"/>
          <a:stretch>
            <a:fillRect/>
          </a:stretch>
        </p:blipFill>
        <p:spPr>
          <a:xfrm>
            <a:off x="3226369" y="2119945"/>
            <a:ext cx="368686" cy="368686"/>
          </a:xfrm>
          <a:prstGeom prst="rect">
            <a:avLst/>
          </a:prstGeom>
        </p:spPr>
      </p:pic>
      <p:sp>
        <p:nvSpPr>
          <p:cNvPr id="13" name="Text 9"/>
          <p:cNvSpPr txBox="1"/>
          <p:nvPr/>
        </p:nvSpPr>
        <p:spPr>
          <a:xfrm>
            <a:off x="4270248"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2</a:t>
            </a:r>
            <a:endParaRPr lang="en-US" sz="1700" dirty="0"/>
          </a:p>
        </p:txBody>
      </p:sp>
      <p:sp>
        <p:nvSpPr>
          <p:cNvPr id="14" name="Text 10"/>
          <p:cNvSpPr txBox="1"/>
          <p:nvPr/>
        </p:nvSpPr>
        <p:spPr>
          <a:xfrm>
            <a:off x="3154680"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L'échéancier</a:t>
            </a:r>
            <a:endParaRPr lang="en-US" sz="1400" dirty="0"/>
          </a:p>
        </p:txBody>
      </p:sp>
      <p:sp>
        <p:nvSpPr>
          <p:cNvPr id="15" name="Text 11"/>
          <p:cNvSpPr txBox="1"/>
          <p:nvPr/>
        </p:nvSpPr>
        <p:spPr>
          <a:xfrm>
            <a:off x="3154680"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Généré automatiquement, recalculé en cas d'avenant.</a:t>
            </a:r>
            <a:endParaRPr lang="en-US" sz="1100" dirty="0"/>
          </a:p>
        </p:txBody>
      </p:sp>
      <p:sp>
        <p:nvSpPr>
          <p:cNvPr id="16" name="Shape 12"/>
          <p:cNvSpPr/>
          <p:nvPr/>
        </p:nvSpPr>
        <p:spPr>
          <a:xfrm>
            <a:off x="5084064"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7" name="Shape 13"/>
          <p:cNvSpPr/>
          <p:nvPr/>
        </p:nvSpPr>
        <p:spPr>
          <a:xfrm>
            <a:off x="5376672" y="2048256"/>
            <a:ext cx="512064" cy="512064"/>
          </a:xfrm>
          <a:prstGeom prst="ellipse">
            <a:avLst/>
          </a:prstGeom>
          <a:solidFill>
            <a:srgbClr val="E2EDED"/>
          </a:solidFill>
          <a:ln/>
        </p:spPr>
      </p:sp>
      <p:pic>
        <p:nvPicPr>
          <p:cNvPr id="18" name="Image 2" descr="preencoded.png">    </p:cNvPr>
          <p:cNvPicPr>
            <a:picLocks noChangeAspect="1"/>
          </p:cNvPicPr>
          <p:nvPr/>
        </p:nvPicPr>
        <p:blipFill>
          <a:blip r:embed="rId3"/>
          <a:stretch>
            <a:fillRect/>
          </a:stretch>
        </p:blipFill>
        <p:spPr>
          <a:xfrm>
            <a:off x="5448361" y="2119945"/>
            <a:ext cx="368686" cy="368686"/>
          </a:xfrm>
          <a:prstGeom prst="rect">
            <a:avLst/>
          </a:prstGeom>
        </p:spPr>
      </p:pic>
      <p:sp>
        <p:nvSpPr>
          <p:cNvPr id="19" name="Text 14"/>
          <p:cNvSpPr txBox="1"/>
          <p:nvPr/>
        </p:nvSpPr>
        <p:spPr>
          <a:xfrm>
            <a:off x="6492240"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3</a:t>
            </a:r>
            <a:endParaRPr lang="en-US" sz="1700" dirty="0"/>
          </a:p>
        </p:txBody>
      </p:sp>
      <p:sp>
        <p:nvSpPr>
          <p:cNvPr id="20" name="Text 15"/>
          <p:cNvSpPr txBox="1"/>
          <p:nvPr/>
        </p:nvSpPr>
        <p:spPr>
          <a:xfrm>
            <a:off x="5376672"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L'encaissement</a:t>
            </a:r>
            <a:endParaRPr lang="en-US" sz="1400" dirty="0"/>
          </a:p>
        </p:txBody>
      </p:sp>
      <p:sp>
        <p:nvSpPr>
          <p:cNvPr id="21" name="Text 16"/>
          <p:cNvSpPr txBox="1"/>
          <p:nvPr/>
        </p:nvSpPr>
        <p:spPr>
          <a:xfrm>
            <a:off x="5376672"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Affecté d'office aux échéances les plus anciennes.</a:t>
            </a:r>
            <a:endParaRPr lang="en-US" sz="1100" dirty="0"/>
          </a:p>
        </p:txBody>
      </p:sp>
      <p:sp>
        <p:nvSpPr>
          <p:cNvPr id="22" name="Shape 17"/>
          <p:cNvSpPr/>
          <p:nvPr/>
        </p:nvSpPr>
        <p:spPr>
          <a:xfrm>
            <a:off x="7306056"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3" name="Shape 18"/>
          <p:cNvSpPr/>
          <p:nvPr/>
        </p:nvSpPr>
        <p:spPr>
          <a:xfrm>
            <a:off x="7598664" y="2048256"/>
            <a:ext cx="512064" cy="512064"/>
          </a:xfrm>
          <a:prstGeom prst="ellipse">
            <a:avLst/>
          </a:prstGeom>
          <a:solidFill>
            <a:srgbClr val="E2EDED"/>
          </a:solidFill>
          <a:ln/>
        </p:spPr>
      </p:sp>
      <p:pic>
        <p:nvPicPr>
          <p:cNvPr id="24" name="Image 3" descr="preencoded.png">    </p:cNvPr>
          <p:cNvPicPr>
            <a:picLocks noChangeAspect="1"/>
          </p:cNvPicPr>
          <p:nvPr/>
        </p:nvPicPr>
        <p:blipFill>
          <a:blip r:embed="rId4"/>
          <a:stretch>
            <a:fillRect/>
          </a:stretch>
        </p:blipFill>
        <p:spPr>
          <a:xfrm>
            <a:off x="7670353" y="2119945"/>
            <a:ext cx="368686" cy="368686"/>
          </a:xfrm>
          <a:prstGeom prst="rect">
            <a:avLst/>
          </a:prstGeom>
        </p:spPr>
      </p:pic>
      <p:sp>
        <p:nvSpPr>
          <p:cNvPr id="25" name="Text 19"/>
          <p:cNvSpPr txBox="1"/>
          <p:nvPr/>
        </p:nvSpPr>
        <p:spPr>
          <a:xfrm>
            <a:off x="8714232"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4</a:t>
            </a:r>
            <a:endParaRPr lang="en-US" sz="1700" dirty="0"/>
          </a:p>
        </p:txBody>
      </p:sp>
      <p:sp>
        <p:nvSpPr>
          <p:cNvPr id="26" name="Text 20"/>
          <p:cNvSpPr txBox="1"/>
          <p:nvPr/>
        </p:nvSpPr>
        <p:spPr>
          <a:xfrm>
            <a:off x="7598664"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Le retard</a:t>
            </a:r>
            <a:endParaRPr lang="en-US" sz="1400" dirty="0"/>
          </a:p>
        </p:txBody>
      </p:sp>
      <p:sp>
        <p:nvSpPr>
          <p:cNvPr id="27" name="Text 21"/>
          <p:cNvSpPr txBox="1"/>
          <p:nvPr/>
        </p:nvSpPr>
        <p:spPr>
          <a:xfrm>
            <a:off x="7598664"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Pénalité calculée seule, après la période de grâce.</a:t>
            </a:r>
            <a:endParaRPr lang="en-US" sz="1100" dirty="0"/>
          </a:p>
        </p:txBody>
      </p:sp>
      <p:sp>
        <p:nvSpPr>
          <p:cNvPr id="28" name="Shape 22"/>
          <p:cNvSpPr/>
          <p:nvPr/>
        </p:nvSpPr>
        <p:spPr>
          <a:xfrm>
            <a:off x="9528048"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9" name="Shape 23"/>
          <p:cNvSpPr/>
          <p:nvPr/>
        </p:nvSpPr>
        <p:spPr>
          <a:xfrm>
            <a:off x="9820656" y="2048256"/>
            <a:ext cx="512064" cy="512064"/>
          </a:xfrm>
          <a:prstGeom prst="ellipse">
            <a:avLst/>
          </a:prstGeom>
          <a:solidFill>
            <a:srgbClr val="E2EDED"/>
          </a:solidFill>
          <a:ln/>
        </p:spPr>
      </p:sp>
      <p:pic>
        <p:nvPicPr>
          <p:cNvPr id="30" name="Image 4" descr="preencoded.png">    </p:cNvPr>
          <p:cNvPicPr>
            <a:picLocks noChangeAspect="1"/>
          </p:cNvPicPr>
          <p:nvPr/>
        </p:nvPicPr>
        <p:blipFill>
          <a:blip r:embed="rId5"/>
          <a:stretch>
            <a:fillRect/>
          </a:stretch>
        </p:blipFill>
        <p:spPr>
          <a:xfrm>
            <a:off x="9892345" y="2119945"/>
            <a:ext cx="368686" cy="368686"/>
          </a:xfrm>
          <a:prstGeom prst="rect">
            <a:avLst/>
          </a:prstGeom>
        </p:spPr>
      </p:pic>
      <p:sp>
        <p:nvSpPr>
          <p:cNvPr id="31" name="Text 24"/>
          <p:cNvSpPr txBox="1"/>
          <p:nvPr/>
        </p:nvSpPr>
        <p:spPr>
          <a:xfrm>
            <a:off x="10936224"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5</a:t>
            </a:r>
            <a:endParaRPr lang="en-US" sz="1700" dirty="0"/>
          </a:p>
        </p:txBody>
      </p:sp>
      <p:sp>
        <p:nvSpPr>
          <p:cNvPr id="32" name="Text 25"/>
          <p:cNvSpPr txBox="1"/>
          <p:nvPr/>
        </p:nvSpPr>
        <p:spPr>
          <a:xfrm>
            <a:off x="9820656"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La quittance</a:t>
            </a:r>
            <a:endParaRPr lang="en-US" sz="1400" dirty="0"/>
          </a:p>
        </p:txBody>
      </p:sp>
      <p:sp>
        <p:nvSpPr>
          <p:cNvPr id="33" name="Text 26"/>
          <p:cNvSpPr txBox="1"/>
          <p:nvPr/>
        </p:nvSpPr>
        <p:spPr>
          <a:xfrm>
            <a:off x="9820656"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Émise depuis votre modèle, numérotée, exportable en Word.</a:t>
            </a:r>
            <a:endParaRPr lang="en-US" sz="1100" dirty="0"/>
          </a:p>
        </p:txBody>
      </p:sp>
      <p:sp>
        <p:nvSpPr>
          <p:cNvPr id="34" name="Shape 27"/>
          <p:cNvSpPr/>
          <p:nvPr/>
        </p:nvSpPr>
        <p:spPr>
          <a:xfrm>
            <a:off x="640080" y="4370832"/>
            <a:ext cx="10908792" cy="1755648"/>
          </a:xfrm>
          <a:prstGeom prst="rect">
            <a:avLst/>
          </a:prstGeom>
          <a:solidFill>
            <a:srgbClr val="0A3F43"/>
          </a:solidFill>
          <a:ln/>
        </p:spPr>
      </p:sp>
      <p:sp>
        <p:nvSpPr>
          <p:cNvPr id="35" name="Shape 28"/>
          <p:cNvSpPr/>
          <p:nvPr/>
        </p:nvSpPr>
        <p:spPr>
          <a:xfrm>
            <a:off x="960120" y="4681728"/>
            <a:ext cx="457200" cy="457200"/>
          </a:xfrm>
          <a:prstGeom prst="ellipse">
            <a:avLst/>
          </a:prstGeom>
          <a:solidFill>
            <a:srgbClr val="0E5C61"/>
          </a:solidFill>
          <a:ln/>
        </p:spPr>
      </p:sp>
      <p:pic>
        <p:nvPicPr>
          <p:cNvPr id="36" name="Image 5" descr="preencoded.png">    </p:cNvPr>
          <p:cNvPicPr>
            <a:picLocks noChangeAspect="1"/>
          </p:cNvPicPr>
          <p:nvPr/>
        </p:nvPicPr>
        <p:blipFill>
          <a:blip r:embed="rId6"/>
          <a:stretch>
            <a:fillRect/>
          </a:stretch>
        </p:blipFill>
        <p:spPr>
          <a:xfrm>
            <a:off x="1024128" y="4745736"/>
            <a:ext cx="329184" cy="329184"/>
          </a:xfrm>
          <a:prstGeom prst="rect">
            <a:avLst/>
          </a:prstGeom>
        </p:spPr>
      </p:pic>
      <p:sp>
        <p:nvSpPr>
          <p:cNvPr id="37" name="Text 29"/>
          <p:cNvSpPr txBox="1"/>
          <p:nvPr/>
        </p:nvSpPr>
        <p:spPr>
          <a:xfrm>
            <a:off x="1581912" y="465429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Cinq moyens de paiement</a:t>
            </a:r>
            <a:endParaRPr lang="en-US" sz="1350" dirty="0"/>
          </a:p>
        </p:txBody>
      </p:sp>
      <p:sp>
        <p:nvSpPr>
          <p:cNvPr id="38" name="Text 30"/>
          <p:cNvSpPr txBox="1"/>
          <p:nvPr/>
        </p:nvSpPr>
        <p:spPr>
          <a:xfrm>
            <a:off x="1581912" y="4974336"/>
            <a:ext cx="2788920" cy="822960"/>
          </a:xfrm>
          <a:prstGeom prst="rect">
            <a:avLst/>
          </a:prstGeom>
          <a:noFill/>
          <a:ln/>
        </p:spPr>
        <p:txBody>
          <a:bodyPr wrap="square" lIns="0" tIns="0" rIns="0" bIns="0" rtlCol="0" anchor="ctr"/>
          <a:lstStyle/>
          <a:p>
            <a:pPr indent="0" marL="0">
              <a:lnSpc>
                <a:spcPct val="112000"/>
              </a:lnSpc>
              <a:buNone/>
            </a:pPr>
            <a:r>
              <a:rPr lang="en-US" sz="1100" dirty="0">
                <a:solidFill>
                  <a:srgbClr val="A9C4C4"/>
                </a:solidFill>
                <a:latin typeface="Calibri" pitchFamily="34" charset="0"/>
                <a:ea typeface="Calibri" pitchFamily="34" charset="-122"/>
                <a:cs typeface="Calibri" pitchFamily="34" charset="-120"/>
              </a:rPr>
              <a:t>Espèces, virement, chèque, Mobile Money, carte — sans double saisie possible.</a:t>
            </a:r>
            <a:endParaRPr lang="en-US" sz="1100" dirty="0"/>
          </a:p>
        </p:txBody>
      </p:sp>
      <p:sp>
        <p:nvSpPr>
          <p:cNvPr id="39" name="Shape 31"/>
          <p:cNvSpPr/>
          <p:nvPr/>
        </p:nvSpPr>
        <p:spPr>
          <a:xfrm>
            <a:off x="4526280" y="4681728"/>
            <a:ext cx="457200" cy="457200"/>
          </a:xfrm>
          <a:prstGeom prst="ellipse">
            <a:avLst/>
          </a:prstGeom>
          <a:solidFill>
            <a:srgbClr val="0E5C61"/>
          </a:solidFill>
          <a:ln/>
        </p:spPr>
      </p:sp>
      <p:pic>
        <p:nvPicPr>
          <p:cNvPr id="40" name="Image 6" descr="preencoded.png">    </p:cNvPr>
          <p:cNvPicPr>
            <a:picLocks noChangeAspect="1"/>
          </p:cNvPicPr>
          <p:nvPr/>
        </p:nvPicPr>
        <p:blipFill>
          <a:blip r:embed="rId7"/>
          <a:stretch>
            <a:fillRect/>
          </a:stretch>
        </p:blipFill>
        <p:spPr>
          <a:xfrm>
            <a:off x="4590288" y="4745736"/>
            <a:ext cx="329184" cy="329184"/>
          </a:xfrm>
          <a:prstGeom prst="rect">
            <a:avLst/>
          </a:prstGeom>
        </p:spPr>
      </p:pic>
      <p:sp>
        <p:nvSpPr>
          <p:cNvPr id="41" name="Text 32"/>
          <p:cNvSpPr txBox="1"/>
          <p:nvPr/>
        </p:nvSpPr>
        <p:spPr>
          <a:xfrm>
            <a:off x="5148072" y="465429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Pénalités paramétrables</a:t>
            </a:r>
            <a:endParaRPr lang="en-US" sz="1350" dirty="0"/>
          </a:p>
        </p:txBody>
      </p:sp>
      <p:sp>
        <p:nvSpPr>
          <p:cNvPr id="42" name="Text 33"/>
          <p:cNvSpPr txBox="1"/>
          <p:nvPr/>
        </p:nvSpPr>
        <p:spPr>
          <a:xfrm>
            <a:off x="5148072" y="4974336"/>
            <a:ext cx="2788920" cy="822960"/>
          </a:xfrm>
          <a:prstGeom prst="rect">
            <a:avLst/>
          </a:prstGeom>
          <a:noFill/>
          <a:ln/>
        </p:spPr>
        <p:txBody>
          <a:bodyPr wrap="square" lIns="0" tIns="0" rIns="0" bIns="0" rtlCol="0" anchor="ctr"/>
          <a:lstStyle/>
          <a:p>
            <a:pPr indent="0" marL="0">
              <a:lnSpc>
                <a:spcPct val="112000"/>
              </a:lnSpc>
              <a:buNone/>
            </a:pPr>
            <a:r>
              <a:rPr lang="en-US" sz="1100" dirty="0">
                <a:solidFill>
                  <a:srgbClr val="A9C4C4"/>
                </a:solidFill>
                <a:latin typeface="Calibri" pitchFamily="34" charset="0"/>
                <a:ea typeface="Calibri" pitchFamily="34" charset="-122"/>
                <a:cs typeface="Calibri" pitchFamily="34" charset="-120"/>
              </a:rPr>
              <a:t>Montant fixe, pourcentage du loyer ou du solde, période de grâce au choix.</a:t>
            </a:r>
            <a:endParaRPr lang="en-US" sz="1100" dirty="0"/>
          </a:p>
        </p:txBody>
      </p:sp>
      <p:sp>
        <p:nvSpPr>
          <p:cNvPr id="43" name="Shape 34"/>
          <p:cNvSpPr/>
          <p:nvPr/>
        </p:nvSpPr>
        <p:spPr>
          <a:xfrm>
            <a:off x="8092440" y="4681728"/>
            <a:ext cx="457200" cy="457200"/>
          </a:xfrm>
          <a:prstGeom prst="ellipse">
            <a:avLst/>
          </a:prstGeom>
          <a:solidFill>
            <a:srgbClr val="0E5C61"/>
          </a:solidFill>
          <a:ln/>
        </p:spPr>
      </p:sp>
      <p:pic>
        <p:nvPicPr>
          <p:cNvPr id="44" name="Image 7" descr="preencoded.png">    </p:cNvPr>
          <p:cNvPicPr>
            <a:picLocks noChangeAspect="1"/>
          </p:cNvPicPr>
          <p:nvPr/>
        </p:nvPicPr>
        <p:blipFill>
          <a:blip r:embed="rId8"/>
          <a:stretch>
            <a:fillRect/>
          </a:stretch>
        </p:blipFill>
        <p:spPr>
          <a:xfrm>
            <a:off x="8156448" y="4745736"/>
            <a:ext cx="329184" cy="329184"/>
          </a:xfrm>
          <a:prstGeom prst="rect">
            <a:avLst/>
          </a:prstGeom>
        </p:spPr>
      </p:pic>
      <p:sp>
        <p:nvSpPr>
          <p:cNvPr id="45" name="Text 35"/>
          <p:cNvSpPr txBox="1"/>
          <p:nvPr/>
        </p:nvSpPr>
        <p:spPr>
          <a:xfrm>
            <a:off x="8714232" y="465429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Cautions tracées</a:t>
            </a:r>
            <a:endParaRPr lang="en-US" sz="1350" dirty="0"/>
          </a:p>
        </p:txBody>
      </p:sp>
      <p:sp>
        <p:nvSpPr>
          <p:cNvPr id="46" name="Text 36"/>
          <p:cNvSpPr txBox="1"/>
          <p:nvPr/>
        </p:nvSpPr>
        <p:spPr>
          <a:xfrm>
            <a:off x="8714232" y="4974336"/>
            <a:ext cx="2788920" cy="822960"/>
          </a:xfrm>
          <a:prstGeom prst="rect">
            <a:avLst/>
          </a:prstGeom>
          <a:noFill/>
          <a:ln/>
        </p:spPr>
        <p:txBody>
          <a:bodyPr wrap="square" lIns="0" tIns="0" rIns="0" bIns="0" rtlCol="0" anchor="ctr"/>
          <a:lstStyle/>
          <a:p>
            <a:pPr indent="0" marL="0">
              <a:lnSpc>
                <a:spcPct val="112000"/>
              </a:lnSpc>
              <a:buNone/>
            </a:pPr>
            <a:r>
              <a:rPr lang="en-US" sz="1100" dirty="0">
                <a:solidFill>
                  <a:srgbClr val="A9C4C4"/>
                </a:solidFill>
                <a:latin typeface="Calibri" pitchFamily="34" charset="0"/>
                <a:ea typeface="Calibri" pitchFamily="34" charset="-122"/>
                <a:cs typeface="Calibri" pitchFamily="34" charset="-120"/>
              </a:rPr>
              <a:t>Encaissement, conservation, restitution, retenue : chaque mouvement daté.</a:t>
            </a:r>
            <a:endParaRPr lang="en-US" sz="1100" dirty="0"/>
          </a:p>
        </p:txBody>
      </p:sp>
      <p:sp>
        <p:nvSpPr>
          <p:cNvPr id="47" name="Text 37"/>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MAINTENANCE</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Une réparation demandée devient un ticket suivi.</a:t>
            </a:r>
            <a:endParaRPr lang="en-US" sz="3100" dirty="0"/>
          </a:p>
        </p:txBody>
      </p:sp>
      <p:sp>
        <p:nvSpPr>
          <p:cNvPr id="4" name="Shape 2"/>
          <p:cNvSpPr/>
          <p:nvPr/>
        </p:nvSpPr>
        <p:spPr>
          <a:xfrm>
            <a:off x="640080" y="1783080"/>
            <a:ext cx="512064" cy="512064"/>
          </a:xfrm>
          <a:prstGeom prst="ellipse">
            <a:avLst/>
          </a:prstGeom>
          <a:solidFill>
            <a:srgbClr val="E2EDED"/>
          </a:solidFill>
          <a:ln/>
        </p:spPr>
      </p:sp>
      <p:pic>
        <p:nvPicPr>
          <p:cNvPr id="5" name="Image 0" descr="preencoded.png">    </p:cNvPr>
          <p:cNvPicPr>
            <a:picLocks noChangeAspect="1"/>
          </p:cNvPicPr>
          <p:nvPr/>
        </p:nvPicPr>
        <p:blipFill>
          <a:blip r:embed="rId1"/>
          <a:stretch>
            <a:fillRect/>
          </a:stretch>
        </p:blipFill>
        <p:spPr>
          <a:xfrm>
            <a:off x="711769" y="1854769"/>
            <a:ext cx="368686" cy="368686"/>
          </a:xfrm>
          <a:prstGeom prst="rect">
            <a:avLst/>
          </a:prstGeom>
        </p:spPr>
      </p:pic>
      <p:sp>
        <p:nvSpPr>
          <p:cNvPr id="6" name="Text 3"/>
          <p:cNvSpPr txBox="1"/>
          <p:nvPr/>
        </p:nvSpPr>
        <p:spPr>
          <a:xfrm>
            <a:off x="1353312" y="1755648"/>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Ouvert par le locataire</a:t>
            </a:r>
            <a:endParaRPr lang="en-US" sz="1500" dirty="0"/>
          </a:p>
        </p:txBody>
      </p:sp>
      <p:sp>
        <p:nvSpPr>
          <p:cNvPr id="7" name="Text 4"/>
          <p:cNvSpPr txBox="1"/>
          <p:nvPr/>
        </p:nvSpPr>
        <p:spPr>
          <a:xfrm>
            <a:off x="1353312" y="2084832"/>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Depuis son portail, photos à l'appui — plus d'appel perdu au standard.</a:t>
            </a:r>
            <a:endParaRPr lang="en-US" sz="1200" dirty="0"/>
          </a:p>
        </p:txBody>
      </p:sp>
      <p:sp>
        <p:nvSpPr>
          <p:cNvPr id="8" name="Shape 5"/>
          <p:cNvSpPr/>
          <p:nvPr/>
        </p:nvSpPr>
        <p:spPr>
          <a:xfrm>
            <a:off x="640080" y="2898648"/>
            <a:ext cx="512064" cy="512064"/>
          </a:xfrm>
          <a:prstGeom prst="ellipse">
            <a:avLst/>
          </a:prstGeom>
          <a:solidFill>
            <a:srgbClr val="E2EDED"/>
          </a:solidFill>
          <a:ln/>
        </p:spPr>
      </p:sp>
      <p:pic>
        <p:nvPicPr>
          <p:cNvPr id="9" name="Image 1" descr="preencoded.png">    </p:cNvPr>
          <p:cNvPicPr>
            <a:picLocks noChangeAspect="1"/>
          </p:cNvPicPr>
          <p:nvPr/>
        </p:nvPicPr>
        <p:blipFill>
          <a:blip r:embed="rId2"/>
          <a:stretch>
            <a:fillRect/>
          </a:stretch>
        </p:blipFill>
        <p:spPr>
          <a:xfrm>
            <a:off x="711769" y="2970337"/>
            <a:ext cx="368686" cy="368686"/>
          </a:xfrm>
          <a:prstGeom prst="rect">
            <a:avLst/>
          </a:prstGeom>
        </p:spPr>
      </p:pic>
      <p:sp>
        <p:nvSpPr>
          <p:cNvPr id="10" name="Text 6"/>
          <p:cNvSpPr txBox="1"/>
          <p:nvPr/>
        </p:nvSpPr>
        <p:spPr>
          <a:xfrm>
            <a:off x="1353312" y="2871216"/>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Qualifié et priorisé</a:t>
            </a:r>
            <a:endParaRPr lang="en-US" sz="1500" dirty="0"/>
          </a:p>
        </p:txBody>
      </p:sp>
      <p:sp>
        <p:nvSpPr>
          <p:cNvPr id="11" name="Text 7"/>
          <p:cNvSpPr txBox="1"/>
          <p:nvPr/>
        </p:nvSpPr>
        <p:spPr>
          <a:xfrm>
            <a:off x="1353312" y="3200400"/>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Catégorie (plomberie, électricité…), priorité, statut visible de tous.</a:t>
            </a:r>
            <a:endParaRPr lang="en-US" sz="1200" dirty="0"/>
          </a:p>
        </p:txBody>
      </p:sp>
      <p:sp>
        <p:nvSpPr>
          <p:cNvPr id="12" name="Shape 8"/>
          <p:cNvSpPr/>
          <p:nvPr/>
        </p:nvSpPr>
        <p:spPr>
          <a:xfrm>
            <a:off x="640080" y="4014216"/>
            <a:ext cx="512064" cy="512064"/>
          </a:xfrm>
          <a:prstGeom prst="ellipse">
            <a:avLst/>
          </a:prstGeom>
          <a:solidFill>
            <a:srgbClr val="E2EDED"/>
          </a:solidFill>
          <a:ln/>
        </p:spPr>
      </p:sp>
      <p:pic>
        <p:nvPicPr>
          <p:cNvPr id="13" name="Image 2" descr="preencoded.png">    </p:cNvPr>
          <p:cNvPicPr>
            <a:picLocks noChangeAspect="1"/>
          </p:cNvPicPr>
          <p:nvPr/>
        </p:nvPicPr>
        <p:blipFill>
          <a:blip r:embed="rId3"/>
          <a:stretch>
            <a:fillRect/>
          </a:stretch>
        </p:blipFill>
        <p:spPr>
          <a:xfrm>
            <a:off x="711769" y="4085905"/>
            <a:ext cx="368686" cy="368686"/>
          </a:xfrm>
          <a:prstGeom prst="rect">
            <a:avLst/>
          </a:prstGeom>
        </p:spPr>
      </p:pic>
      <p:sp>
        <p:nvSpPr>
          <p:cNvPr id="14" name="Text 9"/>
          <p:cNvSpPr txBox="1"/>
          <p:nvPr/>
        </p:nvSpPr>
        <p:spPr>
          <a:xfrm>
            <a:off x="1353312" y="3986784"/>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Discuté au même endroit</a:t>
            </a:r>
            <a:endParaRPr lang="en-US" sz="1500" dirty="0"/>
          </a:p>
        </p:txBody>
      </p:sp>
      <p:sp>
        <p:nvSpPr>
          <p:cNvPr id="15" name="Text 10"/>
          <p:cNvSpPr txBox="1"/>
          <p:nvPr/>
        </p:nvSpPr>
        <p:spPr>
          <a:xfrm>
            <a:off x="1353312" y="4315968"/>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Un fil unique entre l'agence, le locataire et le propriétaire.</a:t>
            </a:r>
            <a:endParaRPr lang="en-US" sz="1200" dirty="0"/>
          </a:p>
        </p:txBody>
      </p:sp>
      <p:sp>
        <p:nvSpPr>
          <p:cNvPr id="16" name="Shape 11"/>
          <p:cNvSpPr/>
          <p:nvPr/>
        </p:nvSpPr>
        <p:spPr>
          <a:xfrm>
            <a:off x="640080" y="5129784"/>
            <a:ext cx="512064" cy="512064"/>
          </a:xfrm>
          <a:prstGeom prst="ellipse">
            <a:avLst/>
          </a:prstGeom>
          <a:solidFill>
            <a:srgbClr val="E2EDED"/>
          </a:solidFill>
          <a:ln/>
        </p:spPr>
      </p:sp>
      <p:pic>
        <p:nvPicPr>
          <p:cNvPr id="17" name="Image 3" descr="preencoded.png">    </p:cNvPr>
          <p:cNvPicPr>
            <a:picLocks noChangeAspect="1"/>
          </p:cNvPicPr>
          <p:nvPr/>
        </p:nvPicPr>
        <p:blipFill>
          <a:blip r:embed="rId4"/>
          <a:stretch>
            <a:fillRect/>
          </a:stretch>
        </p:blipFill>
        <p:spPr>
          <a:xfrm>
            <a:off x="711769" y="5201473"/>
            <a:ext cx="368686" cy="368686"/>
          </a:xfrm>
          <a:prstGeom prst="rect">
            <a:avLst/>
          </a:prstGeom>
        </p:spPr>
      </p:pic>
      <p:sp>
        <p:nvSpPr>
          <p:cNvPr id="18" name="Text 12"/>
          <p:cNvSpPr txBox="1"/>
          <p:nvPr/>
        </p:nvSpPr>
        <p:spPr>
          <a:xfrm>
            <a:off x="1353312" y="5102352"/>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Confié à un prestataire</a:t>
            </a:r>
            <a:endParaRPr lang="en-US" sz="1500" dirty="0"/>
          </a:p>
        </p:txBody>
      </p:sp>
      <p:sp>
        <p:nvSpPr>
          <p:cNvPr id="19" name="Text 13"/>
          <p:cNvSpPr txBox="1"/>
          <p:nvPr/>
        </p:nvSpPr>
        <p:spPr>
          <a:xfrm>
            <a:off x="1353312" y="5431536"/>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Répertoire d'intervenants et affectation directe depuis le ticket.</a:t>
            </a:r>
            <a:endParaRPr lang="en-US" sz="1200" dirty="0"/>
          </a:p>
        </p:txBody>
      </p:sp>
      <p:sp>
        <p:nvSpPr>
          <p:cNvPr id="20" name="Shape 14"/>
          <p:cNvSpPr/>
          <p:nvPr/>
        </p:nvSpPr>
        <p:spPr>
          <a:xfrm>
            <a:off x="6720840" y="1783080"/>
            <a:ext cx="4828032" cy="431596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1" name="Text 15"/>
          <p:cNvSpPr txBox="1"/>
          <p:nvPr/>
        </p:nvSpPr>
        <p:spPr>
          <a:xfrm>
            <a:off x="7086600" y="2084832"/>
            <a:ext cx="4114800" cy="310896"/>
          </a:xfrm>
          <a:prstGeom prst="rect">
            <a:avLst/>
          </a:prstGeom>
          <a:noFill/>
          <a:ln/>
        </p:spPr>
        <p:txBody>
          <a:bodyPr wrap="square" lIns="0" tIns="0" rIns="0" bIns="0" rtlCol="0" anchor="ctr"/>
          <a:lstStyle/>
          <a:p>
            <a:pPr indent="0" marL="0">
              <a:buNone/>
            </a:pPr>
            <a:r>
              <a:rPr lang="en-US" sz="1200" b="1" spc="120" kern="0" dirty="0">
                <a:solidFill>
                  <a:srgbClr val="7C8788"/>
                </a:solidFill>
                <a:latin typeface="Calibri" pitchFamily="34" charset="0"/>
                <a:ea typeface="Calibri" pitchFamily="34" charset="-122"/>
                <a:cs typeface="Calibri" pitchFamily="34" charset="-120"/>
              </a:rPr>
              <a:t>Le cycle d'un ticket</a:t>
            </a:r>
            <a:endParaRPr lang="en-US" sz="1200" dirty="0"/>
          </a:p>
        </p:txBody>
      </p:sp>
      <p:sp>
        <p:nvSpPr>
          <p:cNvPr id="22" name="Shape 16"/>
          <p:cNvSpPr/>
          <p:nvPr/>
        </p:nvSpPr>
        <p:spPr>
          <a:xfrm>
            <a:off x="7114032" y="2651760"/>
            <a:ext cx="237744" cy="237744"/>
          </a:xfrm>
          <a:prstGeom prst="ellipse">
            <a:avLst/>
          </a:prstGeom>
          <a:solidFill>
            <a:srgbClr val="7FD4CE"/>
          </a:solidFill>
          <a:ln/>
        </p:spPr>
      </p:sp>
      <p:sp>
        <p:nvSpPr>
          <p:cNvPr id="23" name="Shape 17"/>
          <p:cNvSpPr/>
          <p:nvPr/>
        </p:nvSpPr>
        <p:spPr>
          <a:xfrm>
            <a:off x="7219188" y="2907792"/>
            <a:ext cx="27432" cy="548640"/>
          </a:xfrm>
          <a:prstGeom prst="rect">
            <a:avLst/>
          </a:prstGeom>
          <a:solidFill>
            <a:srgbClr val="D8E2E0"/>
          </a:solidFill>
          <a:ln/>
        </p:spPr>
      </p:sp>
      <p:sp>
        <p:nvSpPr>
          <p:cNvPr id="24" name="Text 18"/>
          <p:cNvSpPr txBox="1"/>
          <p:nvPr/>
        </p:nvSpPr>
        <p:spPr>
          <a:xfrm>
            <a:off x="7571232" y="2606040"/>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Ouvert</a:t>
            </a:r>
            <a:endParaRPr lang="en-US" sz="1350" dirty="0"/>
          </a:p>
        </p:txBody>
      </p:sp>
      <p:sp>
        <p:nvSpPr>
          <p:cNvPr id="25" name="Text 19"/>
          <p:cNvSpPr txBox="1"/>
          <p:nvPr/>
        </p:nvSpPr>
        <p:spPr>
          <a:xfrm>
            <a:off x="7571232" y="2880360"/>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Le locataire décrit la panne et joint des photos.</a:t>
            </a:r>
            <a:endParaRPr lang="en-US" sz="1100" dirty="0"/>
          </a:p>
        </p:txBody>
      </p:sp>
      <p:sp>
        <p:nvSpPr>
          <p:cNvPr id="26" name="Shape 20"/>
          <p:cNvSpPr/>
          <p:nvPr/>
        </p:nvSpPr>
        <p:spPr>
          <a:xfrm>
            <a:off x="7114032" y="3502152"/>
            <a:ext cx="237744" cy="237744"/>
          </a:xfrm>
          <a:prstGeom prst="ellipse">
            <a:avLst/>
          </a:prstGeom>
          <a:solidFill>
            <a:srgbClr val="7FD4CE"/>
          </a:solidFill>
          <a:ln/>
        </p:spPr>
      </p:sp>
      <p:sp>
        <p:nvSpPr>
          <p:cNvPr id="27" name="Shape 21"/>
          <p:cNvSpPr/>
          <p:nvPr/>
        </p:nvSpPr>
        <p:spPr>
          <a:xfrm>
            <a:off x="7219188" y="3758184"/>
            <a:ext cx="27432" cy="548640"/>
          </a:xfrm>
          <a:prstGeom prst="rect">
            <a:avLst/>
          </a:prstGeom>
          <a:solidFill>
            <a:srgbClr val="D8E2E0"/>
          </a:solidFill>
          <a:ln/>
        </p:spPr>
      </p:sp>
      <p:sp>
        <p:nvSpPr>
          <p:cNvPr id="28" name="Text 22"/>
          <p:cNvSpPr txBox="1"/>
          <p:nvPr/>
        </p:nvSpPr>
        <p:spPr>
          <a:xfrm>
            <a:off x="7571232" y="3456432"/>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Pris en charge</a:t>
            </a:r>
            <a:endParaRPr lang="en-US" sz="1350" dirty="0"/>
          </a:p>
        </p:txBody>
      </p:sp>
      <p:sp>
        <p:nvSpPr>
          <p:cNvPr id="29" name="Text 23"/>
          <p:cNvSpPr txBox="1"/>
          <p:nvPr/>
        </p:nvSpPr>
        <p:spPr>
          <a:xfrm>
            <a:off x="7571232" y="3730752"/>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L'agence qualifie, priorise et informe le propriétaire.</a:t>
            </a:r>
            <a:endParaRPr lang="en-US" sz="1100" dirty="0"/>
          </a:p>
        </p:txBody>
      </p:sp>
      <p:sp>
        <p:nvSpPr>
          <p:cNvPr id="30" name="Shape 24"/>
          <p:cNvSpPr/>
          <p:nvPr/>
        </p:nvSpPr>
        <p:spPr>
          <a:xfrm>
            <a:off x="7114032" y="4352544"/>
            <a:ext cx="237744" cy="237744"/>
          </a:xfrm>
          <a:prstGeom prst="ellipse">
            <a:avLst/>
          </a:prstGeom>
          <a:solidFill>
            <a:srgbClr val="7FD4CE"/>
          </a:solidFill>
          <a:ln/>
        </p:spPr>
      </p:sp>
      <p:sp>
        <p:nvSpPr>
          <p:cNvPr id="31" name="Shape 25"/>
          <p:cNvSpPr/>
          <p:nvPr/>
        </p:nvSpPr>
        <p:spPr>
          <a:xfrm>
            <a:off x="7219188" y="4608576"/>
            <a:ext cx="27432" cy="548640"/>
          </a:xfrm>
          <a:prstGeom prst="rect">
            <a:avLst/>
          </a:prstGeom>
          <a:solidFill>
            <a:srgbClr val="D8E2E0"/>
          </a:solidFill>
          <a:ln/>
        </p:spPr>
      </p:sp>
      <p:sp>
        <p:nvSpPr>
          <p:cNvPr id="32" name="Text 26"/>
          <p:cNvSpPr txBox="1"/>
          <p:nvPr/>
        </p:nvSpPr>
        <p:spPr>
          <a:xfrm>
            <a:off x="7571232" y="4306824"/>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En intervention</a:t>
            </a:r>
            <a:endParaRPr lang="en-US" sz="1350" dirty="0"/>
          </a:p>
        </p:txBody>
      </p:sp>
      <p:sp>
        <p:nvSpPr>
          <p:cNvPr id="33" name="Text 27"/>
          <p:cNvSpPr txBox="1"/>
          <p:nvPr/>
        </p:nvSpPr>
        <p:spPr>
          <a:xfrm>
            <a:off x="7571232" y="4581144"/>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Un prestataire est affecté ; les échanges restent dans le fil.</a:t>
            </a:r>
            <a:endParaRPr lang="en-US" sz="1100" dirty="0"/>
          </a:p>
        </p:txBody>
      </p:sp>
      <p:sp>
        <p:nvSpPr>
          <p:cNvPr id="34" name="Shape 28"/>
          <p:cNvSpPr/>
          <p:nvPr/>
        </p:nvSpPr>
        <p:spPr>
          <a:xfrm>
            <a:off x="7114032" y="5202936"/>
            <a:ext cx="237744" cy="237744"/>
          </a:xfrm>
          <a:prstGeom prst="ellipse">
            <a:avLst/>
          </a:prstGeom>
          <a:solidFill>
            <a:srgbClr val="0E5C61"/>
          </a:solidFill>
          <a:ln/>
        </p:spPr>
      </p:sp>
      <p:sp>
        <p:nvSpPr>
          <p:cNvPr id="35" name="Text 29"/>
          <p:cNvSpPr txBox="1"/>
          <p:nvPr/>
        </p:nvSpPr>
        <p:spPr>
          <a:xfrm>
            <a:off x="7571232" y="5157216"/>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Résolu</a:t>
            </a:r>
            <a:endParaRPr lang="en-US" sz="1350" dirty="0"/>
          </a:p>
        </p:txBody>
      </p:sp>
      <p:sp>
        <p:nvSpPr>
          <p:cNvPr id="36" name="Text 30"/>
          <p:cNvSpPr txBox="1"/>
          <p:nvPr/>
        </p:nvSpPr>
        <p:spPr>
          <a:xfrm>
            <a:off x="7571232" y="5431536"/>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Le ticket est clôturé, l'historique reste attaché au bien.</a:t>
            </a:r>
            <a:endParaRPr lang="en-US" sz="1100" dirty="0"/>
          </a:p>
        </p:txBody>
      </p:sp>
      <p:sp>
        <p:nvSpPr>
          <p:cNvPr id="37" name="Text 31"/>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PORTAILS CLIENTS</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Vos clients se servent eux-mêmes.</a:t>
            </a:r>
            <a:endParaRPr lang="en-US" sz="3100" dirty="0"/>
          </a:p>
        </p:txBody>
      </p:sp>
      <p:sp>
        <p:nvSpPr>
          <p:cNvPr id="4" name="Shape 2"/>
          <p:cNvSpPr/>
          <p:nvPr/>
        </p:nvSpPr>
        <p:spPr>
          <a:xfrm>
            <a:off x="640080" y="1737360"/>
            <a:ext cx="5303520" cy="402336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1024128" y="2029968"/>
            <a:ext cx="548640" cy="548640"/>
          </a:xfrm>
          <a:prstGeom prst="ellipse">
            <a:avLst/>
          </a:prstGeom>
          <a:solidFill>
            <a:srgbClr val="E2EDED"/>
          </a:solidFill>
          <a:ln/>
        </p:spPr>
      </p:sp>
      <p:pic>
        <p:nvPicPr>
          <p:cNvPr id="6" name="Image 0" descr="preencoded.png">    </p:cNvPr>
          <p:cNvPicPr>
            <a:picLocks noChangeAspect="1"/>
          </p:cNvPicPr>
          <p:nvPr/>
        </p:nvPicPr>
        <p:blipFill>
          <a:blip r:embed="rId1"/>
          <a:stretch>
            <a:fillRect/>
          </a:stretch>
        </p:blipFill>
        <p:spPr>
          <a:xfrm>
            <a:off x="1100938" y="2106778"/>
            <a:ext cx="395021" cy="395021"/>
          </a:xfrm>
          <a:prstGeom prst="rect">
            <a:avLst/>
          </a:prstGeom>
        </p:spPr>
      </p:pic>
      <p:sp>
        <p:nvSpPr>
          <p:cNvPr id="7" name="Text 4"/>
          <p:cNvSpPr txBox="1"/>
          <p:nvPr/>
        </p:nvSpPr>
        <p:spPr>
          <a:xfrm>
            <a:off x="1755648" y="2011680"/>
            <a:ext cx="3931920" cy="329184"/>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Portail locataire</a:t>
            </a:r>
            <a:endParaRPr lang="en-US" sz="1700" dirty="0"/>
          </a:p>
        </p:txBody>
      </p:sp>
      <p:sp>
        <p:nvSpPr>
          <p:cNvPr id="8" name="Text 5"/>
          <p:cNvSpPr txBox="1"/>
          <p:nvPr/>
        </p:nvSpPr>
        <p:spPr>
          <a:xfrm>
            <a:off x="1755648" y="2340864"/>
            <a:ext cx="4023360" cy="274320"/>
          </a:xfrm>
          <a:prstGeom prst="rect">
            <a:avLst/>
          </a:prstGeom>
          <a:noFill/>
          <a:ln/>
        </p:spPr>
        <p:txBody>
          <a:bodyPr wrap="square" lIns="0" tIns="0" rIns="0" bIns="0" rtlCol="0" anchor="ctr"/>
          <a:lstStyle/>
          <a:p>
            <a:pPr indent="0" marL="0">
              <a:buNone/>
            </a:pPr>
            <a:r>
              <a:rPr lang="en-US" sz="1150" dirty="0">
                <a:solidFill>
                  <a:srgbClr val="7C8788"/>
                </a:solidFill>
                <a:latin typeface="Calibri" pitchFamily="34" charset="0"/>
                <a:ea typeface="Calibri" pitchFamily="34" charset="-122"/>
                <a:cs typeface="Calibri" pitchFamily="34" charset="-120"/>
              </a:rPr>
              <a:t>Ce qu'il consulte et fait sans passer par vous</a:t>
            </a:r>
            <a:endParaRPr lang="en-US" sz="1150" dirty="0"/>
          </a:p>
        </p:txBody>
      </p:sp>
      <p:sp>
        <p:nvSpPr>
          <p:cNvPr id="9" name="Shape 6"/>
          <p:cNvSpPr/>
          <p:nvPr/>
        </p:nvSpPr>
        <p:spPr>
          <a:xfrm>
            <a:off x="1097280" y="2958084"/>
            <a:ext cx="118872" cy="118872"/>
          </a:xfrm>
          <a:prstGeom prst="ellipse">
            <a:avLst/>
          </a:prstGeom>
          <a:solidFill>
            <a:srgbClr val="7FD4CE"/>
          </a:solidFill>
          <a:ln/>
        </p:spPr>
      </p:sp>
      <p:sp>
        <p:nvSpPr>
          <p:cNvPr id="10" name="Text 7"/>
          <p:cNvSpPr txBox="1"/>
          <p:nvPr/>
        </p:nvSpPr>
        <p:spPr>
          <a:xfrm>
            <a:off x="1389888" y="287121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Son bail et ses conditions</a:t>
            </a:r>
            <a:endParaRPr lang="en-US" sz="1250" dirty="0"/>
          </a:p>
        </p:txBody>
      </p:sp>
      <p:sp>
        <p:nvSpPr>
          <p:cNvPr id="11" name="Shape 8"/>
          <p:cNvSpPr/>
          <p:nvPr/>
        </p:nvSpPr>
        <p:spPr>
          <a:xfrm>
            <a:off x="1097280" y="3360420"/>
            <a:ext cx="118872" cy="118872"/>
          </a:xfrm>
          <a:prstGeom prst="ellipse">
            <a:avLst/>
          </a:prstGeom>
          <a:solidFill>
            <a:srgbClr val="7FD4CE"/>
          </a:solidFill>
          <a:ln/>
        </p:spPr>
      </p:sp>
      <p:sp>
        <p:nvSpPr>
          <p:cNvPr id="12" name="Text 9"/>
          <p:cNvSpPr txBox="1"/>
          <p:nvPr/>
        </p:nvSpPr>
        <p:spPr>
          <a:xfrm>
            <a:off x="1389888" y="327355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échéances à venir et son solde</a:t>
            </a:r>
            <a:endParaRPr lang="en-US" sz="1250" dirty="0"/>
          </a:p>
        </p:txBody>
      </p:sp>
      <p:sp>
        <p:nvSpPr>
          <p:cNvPr id="13" name="Shape 10"/>
          <p:cNvSpPr/>
          <p:nvPr/>
        </p:nvSpPr>
        <p:spPr>
          <a:xfrm>
            <a:off x="1097280" y="3762756"/>
            <a:ext cx="118872" cy="118872"/>
          </a:xfrm>
          <a:prstGeom prst="ellipse">
            <a:avLst/>
          </a:prstGeom>
          <a:solidFill>
            <a:srgbClr val="7FD4CE"/>
          </a:solidFill>
          <a:ln/>
        </p:spPr>
      </p:sp>
      <p:sp>
        <p:nvSpPr>
          <p:cNvPr id="14" name="Text 11"/>
          <p:cNvSpPr txBox="1"/>
          <p:nvPr/>
        </p:nvSpPr>
        <p:spPr>
          <a:xfrm>
            <a:off x="1389888" y="3675888"/>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L'historique de ses paiements</a:t>
            </a:r>
            <a:endParaRPr lang="en-US" sz="1250" dirty="0"/>
          </a:p>
        </p:txBody>
      </p:sp>
      <p:sp>
        <p:nvSpPr>
          <p:cNvPr id="15" name="Shape 12"/>
          <p:cNvSpPr/>
          <p:nvPr/>
        </p:nvSpPr>
        <p:spPr>
          <a:xfrm>
            <a:off x="1097280" y="4165092"/>
            <a:ext cx="118872" cy="118872"/>
          </a:xfrm>
          <a:prstGeom prst="ellipse">
            <a:avLst/>
          </a:prstGeom>
          <a:solidFill>
            <a:srgbClr val="7FD4CE"/>
          </a:solidFill>
          <a:ln/>
        </p:spPr>
      </p:sp>
      <p:sp>
        <p:nvSpPr>
          <p:cNvPr id="16" name="Text 13"/>
          <p:cNvSpPr txBox="1"/>
          <p:nvPr/>
        </p:nvSpPr>
        <p:spPr>
          <a:xfrm>
            <a:off x="1389888" y="4078224"/>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La déclaration d'un paiement, à valider par l'agence</a:t>
            </a:r>
            <a:endParaRPr lang="en-US" sz="1250" dirty="0"/>
          </a:p>
        </p:txBody>
      </p:sp>
      <p:sp>
        <p:nvSpPr>
          <p:cNvPr id="17" name="Shape 14"/>
          <p:cNvSpPr/>
          <p:nvPr/>
        </p:nvSpPr>
        <p:spPr>
          <a:xfrm>
            <a:off x="1097280" y="4567428"/>
            <a:ext cx="118872" cy="118872"/>
          </a:xfrm>
          <a:prstGeom prst="ellipse">
            <a:avLst/>
          </a:prstGeom>
          <a:solidFill>
            <a:srgbClr val="7FD4CE"/>
          </a:solidFill>
          <a:ln/>
        </p:spPr>
      </p:sp>
      <p:sp>
        <p:nvSpPr>
          <p:cNvPr id="18" name="Text 15"/>
          <p:cNvSpPr txBox="1"/>
          <p:nvPr/>
        </p:nvSpPr>
        <p:spPr>
          <a:xfrm>
            <a:off x="1389888" y="4480560"/>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Sa caution et les mouvements associés</a:t>
            </a:r>
            <a:endParaRPr lang="en-US" sz="1250" dirty="0"/>
          </a:p>
        </p:txBody>
      </p:sp>
      <p:sp>
        <p:nvSpPr>
          <p:cNvPr id="19" name="Shape 16"/>
          <p:cNvSpPr/>
          <p:nvPr/>
        </p:nvSpPr>
        <p:spPr>
          <a:xfrm>
            <a:off x="1097280" y="4969764"/>
            <a:ext cx="118872" cy="118872"/>
          </a:xfrm>
          <a:prstGeom prst="ellipse">
            <a:avLst/>
          </a:prstGeom>
          <a:solidFill>
            <a:srgbClr val="7FD4CE"/>
          </a:solidFill>
          <a:ln/>
        </p:spPr>
      </p:sp>
      <p:sp>
        <p:nvSpPr>
          <p:cNvPr id="20" name="Text 17"/>
          <p:cNvSpPr txBox="1"/>
          <p:nvPr/>
        </p:nvSpPr>
        <p:spPr>
          <a:xfrm>
            <a:off x="1389888" y="488289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documents : contrat, quittances, reçus</a:t>
            </a:r>
            <a:endParaRPr lang="en-US" sz="1250" dirty="0"/>
          </a:p>
        </p:txBody>
      </p:sp>
      <p:sp>
        <p:nvSpPr>
          <p:cNvPr id="21" name="Shape 18"/>
          <p:cNvSpPr/>
          <p:nvPr/>
        </p:nvSpPr>
        <p:spPr>
          <a:xfrm>
            <a:off x="1097280" y="5372100"/>
            <a:ext cx="118872" cy="118872"/>
          </a:xfrm>
          <a:prstGeom prst="ellipse">
            <a:avLst/>
          </a:prstGeom>
          <a:solidFill>
            <a:srgbClr val="7FD4CE"/>
          </a:solidFill>
          <a:ln/>
        </p:spPr>
      </p:sp>
      <p:sp>
        <p:nvSpPr>
          <p:cNvPr id="22" name="Text 19"/>
          <p:cNvSpPr txBox="1"/>
          <p:nvPr/>
        </p:nvSpPr>
        <p:spPr>
          <a:xfrm>
            <a:off x="1389888" y="528523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L'ouverture d'un ticket avec photos</a:t>
            </a:r>
            <a:endParaRPr lang="en-US" sz="1250" dirty="0"/>
          </a:p>
        </p:txBody>
      </p:sp>
      <p:sp>
        <p:nvSpPr>
          <p:cNvPr id="23" name="Shape 20"/>
          <p:cNvSpPr/>
          <p:nvPr/>
        </p:nvSpPr>
        <p:spPr>
          <a:xfrm>
            <a:off x="6245352" y="1737360"/>
            <a:ext cx="5303520" cy="402336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4" name="Shape 21"/>
          <p:cNvSpPr/>
          <p:nvPr/>
        </p:nvSpPr>
        <p:spPr>
          <a:xfrm>
            <a:off x="6629400" y="2029968"/>
            <a:ext cx="548640" cy="548640"/>
          </a:xfrm>
          <a:prstGeom prst="ellipse">
            <a:avLst/>
          </a:prstGeom>
          <a:solidFill>
            <a:srgbClr val="E2EDED"/>
          </a:solidFill>
          <a:ln/>
        </p:spPr>
      </p:sp>
      <p:pic>
        <p:nvPicPr>
          <p:cNvPr id="25" name="Image 1" descr="preencoded.png">    </p:cNvPr>
          <p:cNvPicPr>
            <a:picLocks noChangeAspect="1"/>
          </p:cNvPicPr>
          <p:nvPr/>
        </p:nvPicPr>
        <p:blipFill>
          <a:blip r:embed="rId2"/>
          <a:stretch>
            <a:fillRect/>
          </a:stretch>
        </p:blipFill>
        <p:spPr>
          <a:xfrm>
            <a:off x="6706210" y="2106778"/>
            <a:ext cx="395021" cy="395021"/>
          </a:xfrm>
          <a:prstGeom prst="rect">
            <a:avLst/>
          </a:prstGeom>
        </p:spPr>
      </p:pic>
      <p:sp>
        <p:nvSpPr>
          <p:cNvPr id="26" name="Text 22"/>
          <p:cNvSpPr txBox="1"/>
          <p:nvPr/>
        </p:nvSpPr>
        <p:spPr>
          <a:xfrm>
            <a:off x="7360920" y="2011680"/>
            <a:ext cx="3931920" cy="329184"/>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Portail propriétaire</a:t>
            </a:r>
            <a:endParaRPr lang="en-US" sz="1700" dirty="0"/>
          </a:p>
        </p:txBody>
      </p:sp>
      <p:sp>
        <p:nvSpPr>
          <p:cNvPr id="27" name="Text 23"/>
          <p:cNvSpPr txBox="1"/>
          <p:nvPr/>
        </p:nvSpPr>
        <p:spPr>
          <a:xfrm>
            <a:off x="7360920" y="2340864"/>
            <a:ext cx="4023360" cy="274320"/>
          </a:xfrm>
          <a:prstGeom prst="rect">
            <a:avLst/>
          </a:prstGeom>
          <a:noFill/>
          <a:ln/>
        </p:spPr>
        <p:txBody>
          <a:bodyPr wrap="square" lIns="0" tIns="0" rIns="0" bIns="0" rtlCol="0" anchor="ctr"/>
          <a:lstStyle/>
          <a:p>
            <a:pPr indent="0" marL="0">
              <a:buNone/>
            </a:pPr>
            <a:r>
              <a:rPr lang="en-US" sz="1150" dirty="0">
                <a:solidFill>
                  <a:srgbClr val="7C8788"/>
                </a:solidFill>
                <a:latin typeface="Calibri" pitchFamily="34" charset="0"/>
                <a:ea typeface="Calibri" pitchFamily="34" charset="-122"/>
                <a:cs typeface="Calibri" pitchFamily="34" charset="-120"/>
              </a:rPr>
              <a:t>Ce qu'il suit sur les biens qu'il vous confie</a:t>
            </a:r>
            <a:endParaRPr lang="en-US" sz="1150" dirty="0"/>
          </a:p>
        </p:txBody>
      </p:sp>
      <p:sp>
        <p:nvSpPr>
          <p:cNvPr id="28" name="Shape 24"/>
          <p:cNvSpPr/>
          <p:nvPr/>
        </p:nvSpPr>
        <p:spPr>
          <a:xfrm>
            <a:off x="6702552" y="2958084"/>
            <a:ext cx="118872" cy="118872"/>
          </a:xfrm>
          <a:prstGeom prst="ellipse">
            <a:avLst/>
          </a:prstGeom>
          <a:solidFill>
            <a:srgbClr val="7FD4CE"/>
          </a:solidFill>
          <a:ln/>
        </p:spPr>
      </p:sp>
      <p:sp>
        <p:nvSpPr>
          <p:cNvPr id="29" name="Text 25"/>
          <p:cNvSpPr txBox="1"/>
          <p:nvPr/>
        </p:nvSpPr>
        <p:spPr>
          <a:xfrm>
            <a:off x="6995160" y="287121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biens et leur situation locative</a:t>
            </a:r>
            <a:endParaRPr lang="en-US" sz="1250" dirty="0"/>
          </a:p>
        </p:txBody>
      </p:sp>
      <p:sp>
        <p:nvSpPr>
          <p:cNvPr id="30" name="Shape 26"/>
          <p:cNvSpPr/>
          <p:nvPr/>
        </p:nvSpPr>
        <p:spPr>
          <a:xfrm>
            <a:off x="6702552" y="3360420"/>
            <a:ext cx="118872" cy="118872"/>
          </a:xfrm>
          <a:prstGeom prst="ellipse">
            <a:avLst/>
          </a:prstGeom>
          <a:solidFill>
            <a:srgbClr val="7FD4CE"/>
          </a:solidFill>
          <a:ln/>
        </p:spPr>
      </p:sp>
      <p:sp>
        <p:nvSpPr>
          <p:cNvPr id="31" name="Text 27"/>
          <p:cNvSpPr txBox="1"/>
          <p:nvPr/>
        </p:nvSpPr>
        <p:spPr>
          <a:xfrm>
            <a:off x="6995160" y="327355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baux, échéances et paiements encaissés</a:t>
            </a:r>
            <a:endParaRPr lang="en-US" sz="1250" dirty="0"/>
          </a:p>
        </p:txBody>
      </p:sp>
      <p:sp>
        <p:nvSpPr>
          <p:cNvPr id="32" name="Shape 28"/>
          <p:cNvSpPr/>
          <p:nvPr/>
        </p:nvSpPr>
        <p:spPr>
          <a:xfrm>
            <a:off x="6702552" y="3762756"/>
            <a:ext cx="118872" cy="118872"/>
          </a:xfrm>
          <a:prstGeom prst="ellipse">
            <a:avLst/>
          </a:prstGeom>
          <a:solidFill>
            <a:srgbClr val="7FD4CE"/>
          </a:solidFill>
          <a:ln/>
        </p:spPr>
      </p:sp>
      <p:sp>
        <p:nvSpPr>
          <p:cNvPr id="33" name="Text 29"/>
          <p:cNvSpPr txBox="1"/>
          <p:nvPr/>
        </p:nvSpPr>
        <p:spPr>
          <a:xfrm>
            <a:off x="6995160" y="3675888"/>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revenus, avec graphiques d'évolution</a:t>
            </a:r>
            <a:endParaRPr lang="en-US" sz="1250" dirty="0"/>
          </a:p>
        </p:txBody>
      </p:sp>
      <p:sp>
        <p:nvSpPr>
          <p:cNvPr id="34" name="Shape 30"/>
          <p:cNvSpPr/>
          <p:nvPr/>
        </p:nvSpPr>
        <p:spPr>
          <a:xfrm>
            <a:off x="6702552" y="4165092"/>
            <a:ext cx="118872" cy="118872"/>
          </a:xfrm>
          <a:prstGeom prst="ellipse">
            <a:avLst/>
          </a:prstGeom>
          <a:solidFill>
            <a:srgbClr val="7FD4CE"/>
          </a:solidFill>
          <a:ln/>
        </p:spPr>
      </p:sp>
      <p:sp>
        <p:nvSpPr>
          <p:cNvPr id="35" name="Text 31"/>
          <p:cNvSpPr txBox="1"/>
          <p:nvPr/>
        </p:nvSpPr>
        <p:spPr>
          <a:xfrm>
            <a:off x="6995160" y="4078224"/>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Les dépôts de garantie détenus</a:t>
            </a:r>
            <a:endParaRPr lang="en-US" sz="1250" dirty="0"/>
          </a:p>
        </p:txBody>
      </p:sp>
      <p:sp>
        <p:nvSpPr>
          <p:cNvPr id="36" name="Shape 32"/>
          <p:cNvSpPr/>
          <p:nvPr/>
        </p:nvSpPr>
        <p:spPr>
          <a:xfrm>
            <a:off x="6702552" y="4567428"/>
            <a:ext cx="118872" cy="118872"/>
          </a:xfrm>
          <a:prstGeom prst="ellipse">
            <a:avLst/>
          </a:prstGeom>
          <a:solidFill>
            <a:srgbClr val="7FD4CE"/>
          </a:solidFill>
          <a:ln/>
        </p:spPr>
      </p:sp>
      <p:sp>
        <p:nvSpPr>
          <p:cNvPr id="37" name="Text 33"/>
          <p:cNvSpPr txBox="1"/>
          <p:nvPr/>
        </p:nvSpPr>
        <p:spPr>
          <a:xfrm>
            <a:off x="6995160" y="4480560"/>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Les tickets de maintenance en cours</a:t>
            </a:r>
            <a:endParaRPr lang="en-US" sz="1250" dirty="0"/>
          </a:p>
        </p:txBody>
      </p:sp>
      <p:sp>
        <p:nvSpPr>
          <p:cNvPr id="38" name="Shape 34"/>
          <p:cNvSpPr/>
          <p:nvPr/>
        </p:nvSpPr>
        <p:spPr>
          <a:xfrm>
            <a:off x="6702552" y="4969764"/>
            <a:ext cx="118872" cy="118872"/>
          </a:xfrm>
          <a:prstGeom prst="ellipse">
            <a:avLst/>
          </a:prstGeom>
          <a:solidFill>
            <a:srgbClr val="7FD4CE"/>
          </a:solidFill>
          <a:ln/>
        </p:spPr>
      </p:sp>
      <p:sp>
        <p:nvSpPr>
          <p:cNvPr id="39" name="Text 35"/>
          <p:cNvSpPr txBox="1"/>
          <p:nvPr/>
        </p:nvSpPr>
        <p:spPr>
          <a:xfrm>
            <a:off x="6995160" y="488289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documents et ses rapports</a:t>
            </a:r>
            <a:endParaRPr lang="en-US" sz="1250" dirty="0"/>
          </a:p>
        </p:txBody>
      </p:sp>
      <p:sp>
        <p:nvSpPr>
          <p:cNvPr id="40" name="Shape 36"/>
          <p:cNvSpPr/>
          <p:nvPr/>
        </p:nvSpPr>
        <p:spPr>
          <a:xfrm>
            <a:off x="6702552" y="5372100"/>
            <a:ext cx="118872" cy="118872"/>
          </a:xfrm>
          <a:prstGeom prst="ellipse">
            <a:avLst/>
          </a:prstGeom>
          <a:solidFill>
            <a:srgbClr val="7FD4CE"/>
          </a:solidFill>
          <a:ln/>
        </p:spPr>
      </p:sp>
      <p:sp>
        <p:nvSpPr>
          <p:cNvPr id="41" name="Text 37"/>
          <p:cNvSpPr txBox="1"/>
          <p:nvPr/>
        </p:nvSpPr>
        <p:spPr>
          <a:xfrm>
            <a:off x="6995160" y="528523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préférences de communication</a:t>
            </a:r>
            <a:endParaRPr lang="en-US" sz="1250" dirty="0"/>
          </a:p>
        </p:txBody>
      </p:sp>
      <p:sp>
        <p:nvSpPr>
          <p:cNvPr id="42" name="Text 38"/>
          <p:cNvSpPr txBox="1"/>
          <p:nvPr/>
        </p:nvSpPr>
        <p:spPr>
          <a:xfrm>
            <a:off x="640080" y="5961888"/>
            <a:ext cx="10881360" cy="310896"/>
          </a:xfrm>
          <a:prstGeom prst="rect">
            <a:avLst/>
          </a:prstGeom>
          <a:noFill/>
          <a:ln/>
        </p:spPr>
        <p:txBody>
          <a:bodyPr wrap="square" lIns="0" tIns="0" rIns="0" bIns="0" rtlCol="0" anchor="ctr"/>
          <a:lstStyle/>
          <a:p>
            <a:pPr indent="0" marL="0">
              <a:buNone/>
            </a:pPr>
            <a:r>
              <a:rPr lang="en-US" sz="1300" i="1" dirty="0">
                <a:solidFill>
                  <a:srgbClr val="0E5C61"/>
                </a:solidFill>
                <a:latin typeface="Calibri" pitchFamily="34" charset="0"/>
                <a:ea typeface="Calibri" pitchFamily="34" charset="-122"/>
                <a:cs typeface="Calibri" pitchFamily="34" charset="-120"/>
              </a:rPr>
              <a:t>Chacun voit son périmètre, et uniquement le sien : moins d'appels au bureau, moins de justificatifs à renvoyer.</a:t>
            </a:r>
            <a:endParaRPr lang="en-US" sz="1300" dirty="0"/>
          </a:p>
        </p:txBody>
      </p:sp>
      <p:sp>
        <p:nvSpPr>
          <p:cNvPr id="43" name="Text 39"/>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COMMUNICATION</a:t>
            </a:r>
            <a:endParaRPr lang="en-US" sz="1100" dirty="0"/>
          </a:p>
        </p:txBody>
      </p:sp>
      <p:sp>
        <p:nvSpPr>
          <p:cNvPr id="3" name="Text 1"/>
          <p:cNvSpPr txBox="1"/>
          <p:nvPr/>
        </p:nvSpPr>
        <p:spPr>
          <a:xfrm>
            <a:off x="640080" y="658368"/>
            <a:ext cx="10881360" cy="100584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Les messages partent seuls, au bon moment.</a:t>
            </a:r>
            <a:endParaRPr lang="en-US" sz="3100" dirty="0"/>
          </a:p>
        </p:txBody>
      </p:sp>
      <p:sp>
        <p:nvSpPr>
          <p:cNvPr id="4" name="Text 2"/>
          <p:cNvSpPr txBox="1"/>
          <p:nvPr/>
        </p:nvSpPr>
        <p:spPr>
          <a:xfrm>
            <a:off x="640080" y="1627632"/>
            <a:ext cx="10607040" cy="475488"/>
          </a:xfrm>
          <a:prstGeom prst="rect">
            <a:avLst/>
          </a:prstGeom>
          <a:noFill/>
          <a:ln/>
        </p:spPr>
        <p:txBody>
          <a:bodyPr wrap="square" lIns="0" tIns="0" rIns="0" bIns="0" rtlCol="0" anchor="ctr"/>
          <a:lstStyle/>
          <a:p>
            <a:pPr indent="0" marL="0">
              <a:buNone/>
            </a:pPr>
            <a:r>
              <a:rPr lang="en-US" sz="1300" dirty="0">
                <a:solidFill>
                  <a:srgbClr val="4A5455"/>
                </a:solidFill>
                <a:latin typeface="Calibri" pitchFamily="34" charset="0"/>
                <a:ea typeface="Calibri" pitchFamily="34" charset="-122"/>
                <a:cs typeface="Calibri" pitchFamily="34" charset="-120"/>
              </a:rPr>
              <a:t>Vous définissez la règle une fois — quel événement, quels destinataires, quel canal, quel modèle — et la plateforme s'en charge ensuite.</a:t>
            </a:r>
            <a:endParaRPr lang="en-US" sz="1300" dirty="0"/>
          </a:p>
        </p:txBody>
      </p:sp>
      <p:sp>
        <p:nvSpPr>
          <p:cNvPr id="5" name="Shape 3"/>
          <p:cNvSpPr/>
          <p:nvPr/>
        </p:nvSpPr>
        <p:spPr>
          <a:xfrm>
            <a:off x="640080" y="2157984"/>
            <a:ext cx="3465576" cy="2249424"/>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6" name="Shape 4"/>
          <p:cNvSpPr/>
          <p:nvPr/>
        </p:nvSpPr>
        <p:spPr>
          <a:xfrm>
            <a:off x="987552" y="2450592"/>
            <a:ext cx="548640" cy="548640"/>
          </a:xfrm>
          <a:prstGeom prst="ellipse">
            <a:avLst/>
          </a:prstGeom>
          <a:solidFill>
            <a:srgbClr val="E2EDED"/>
          </a:solidFill>
          <a:ln/>
        </p:spPr>
      </p:sp>
      <p:pic>
        <p:nvPicPr>
          <p:cNvPr id="7" name="Image 0" descr="preencoded.png">    </p:cNvPr>
          <p:cNvPicPr>
            <a:picLocks noChangeAspect="1"/>
          </p:cNvPicPr>
          <p:nvPr/>
        </p:nvPicPr>
        <p:blipFill>
          <a:blip r:embed="rId1"/>
          <a:stretch>
            <a:fillRect/>
          </a:stretch>
        </p:blipFill>
        <p:spPr>
          <a:xfrm>
            <a:off x="1064362" y="2527402"/>
            <a:ext cx="395021" cy="395021"/>
          </a:xfrm>
          <a:prstGeom prst="rect">
            <a:avLst/>
          </a:prstGeom>
        </p:spPr>
      </p:pic>
      <p:sp>
        <p:nvSpPr>
          <p:cNvPr id="8" name="Text 5"/>
          <p:cNvSpPr txBox="1"/>
          <p:nvPr/>
        </p:nvSpPr>
        <p:spPr>
          <a:xfrm>
            <a:off x="1682496" y="2505456"/>
            <a:ext cx="2093976" cy="365760"/>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E-mail</a:t>
            </a:r>
            <a:endParaRPr lang="en-US" sz="1700" dirty="0"/>
          </a:p>
        </p:txBody>
      </p:sp>
      <p:sp>
        <p:nvSpPr>
          <p:cNvPr id="9" name="Text 6"/>
          <p:cNvSpPr txBox="1"/>
          <p:nvPr/>
        </p:nvSpPr>
        <p:spPr>
          <a:xfrm>
            <a:off x="987552" y="3200400"/>
            <a:ext cx="2770632" cy="10424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Rappel d'échéance, paiement reçu, ticket ouvert, rendez-vous, bail arrivant à terme. Vos modèles, vos variables, votre ton.</a:t>
            </a:r>
            <a:endParaRPr lang="en-US" sz="1150" dirty="0"/>
          </a:p>
        </p:txBody>
      </p:sp>
      <p:sp>
        <p:nvSpPr>
          <p:cNvPr id="10" name="Shape 7"/>
          <p:cNvSpPr/>
          <p:nvPr/>
        </p:nvSpPr>
        <p:spPr>
          <a:xfrm>
            <a:off x="4379976" y="2157984"/>
            <a:ext cx="3465576" cy="2249424"/>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1" name="Shape 8"/>
          <p:cNvSpPr/>
          <p:nvPr/>
        </p:nvSpPr>
        <p:spPr>
          <a:xfrm>
            <a:off x="4727448" y="2450592"/>
            <a:ext cx="548640" cy="548640"/>
          </a:xfrm>
          <a:prstGeom prst="ellipse">
            <a:avLst/>
          </a:prstGeom>
          <a:solidFill>
            <a:srgbClr val="E2EDED"/>
          </a:solidFill>
          <a:ln/>
        </p:spPr>
      </p:sp>
      <p:pic>
        <p:nvPicPr>
          <p:cNvPr id="12" name="Image 1" descr="preencoded.png">    </p:cNvPr>
          <p:cNvPicPr>
            <a:picLocks noChangeAspect="1"/>
          </p:cNvPicPr>
          <p:nvPr/>
        </p:nvPicPr>
        <p:blipFill>
          <a:blip r:embed="rId2"/>
          <a:stretch>
            <a:fillRect/>
          </a:stretch>
        </p:blipFill>
        <p:spPr>
          <a:xfrm>
            <a:off x="4804258" y="2527402"/>
            <a:ext cx="395021" cy="395021"/>
          </a:xfrm>
          <a:prstGeom prst="rect">
            <a:avLst/>
          </a:prstGeom>
        </p:spPr>
      </p:pic>
      <p:sp>
        <p:nvSpPr>
          <p:cNvPr id="13" name="Text 9"/>
          <p:cNvSpPr txBox="1"/>
          <p:nvPr/>
        </p:nvSpPr>
        <p:spPr>
          <a:xfrm>
            <a:off x="5422392" y="2505456"/>
            <a:ext cx="2093976" cy="365760"/>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WhatsApp</a:t>
            </a:r>
            <a:endParaRPr lang="en-US" sz="1700" dirty="0"/>
          </a:p>
        </p:txBody>
      </p:sp>
      <p:sp>
        <p:nvSpPr>
          <p:cNvPr id="14" name="Text 10"/>
          <p:cNvSpPr txBox="1"/>
          <p:nvPr/>
        </p:nvSpPr>
        <p:spPr>
          <a:xfrm>
            <a:off x="4727448" y="3200400"/>
            <a:ext cx="2770632" cy="10424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Les mêmes notifications sur le canal que vos clients lisent vraiment, avec copie à l'agence si vous le souhaitez.</a:t>
            </a:r>
            <a:endParaRPr lang="en-US" sz="1150" dirty="0"/>
          </a:p>
        </p:txBody>
      </p:sp>
      <p:sp>
        <p:nvSpPr>
          <p:cNvPr id="15" name="Shape 11"/>
          <p:cNvSpPr/>
          <p:nvPr/>
        </p:nvSpPr>
        <p:spPr>
          <a:xfrm>
            <a:off x="8119872" y="2157984"/>
            <a:ext cx="3465576" cy="2249424"/>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6" name="Shape 12"/>
          <p:cNvSpPr/>
          <p:nvPr/>
        </p:nvSpPr>
        <p:spPr>
          <a:xfrm>
            <a:off x="8467344" y="2450592"/>
            <a:ext cx="548640" cy="548640"/>
          </a:xfrm>
          <a:prstGeom prst="ellipse">
            <a:avLst/>
          </a:prstGeom>
          <a:solidFill>
            <a:srgbClr val="E2EDED"/>
          </a:solidFill>
          <a:ln/>
        </p:spPr>
      </p:sp>
      <p:pic>
        <p:nvPicPr>
          <p:cNvPr id="17" name="Image 2" descr="preencoded.png">    </p:cNvPr>
          <p:cNvPicPr>
            <a:picLocks noChangeAspect="1"/>
          </p:cNvPicPr>
          <p:nvPr/>
        </p:nvPicPr>
        <p:blipFill>
          <a:blip r:embed="rId3"/>
          <a:stretch>
            <a:fillRect/>
          </a:stretch>
        </p:blipFill>
        <p:spPr>
          <a:xfrm>
            <a:off x="8544154" y="2527402"/>
            <a:ext cx="395021" cy="395021"/>
          </a:xfrm>
          <a:prstGeom prst="rect">
            <a:avLst/>
          </a:prstGeom>
        </p:spPr>
      </p:pic>
      <p:sp>
        <p:nvSpPr>
          <p:cNvPr id="18" name="Text 13"/>
          <p:cNvSpPr txBox="1"/>
          <p:nvPr/>
        </p:nvSpPr>
        <p:spPr>
          <a:xfrm>
            <a:off x="9162288" y="2505456"/>
            <a:ext cx="2093976" cy="365760"/>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Newsletter</a:t>
            </a:r>
            <a:endParaRPr lang="en-US" sz="1700" dirty="0"/>
          </a:p>
        </p:txBody>
      </p:sp>
      <p:sp>
        <p:nvSpPr>
          <p:cNvPr id="19" name="Text 14"/>
          <p:cNvSpPr txBox="1"/>
          <p:nvPr/>
        </p:nvSpPr>
        <p:spPr>
          <a:xfrm>
            <a:off x="8467344" y="3200400"/>
            <a:ext cx="2770632" cy="10424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Listes, import CSV, modèles HTML, envoi immédiat ou programmé, statistiques. Double confirmation et désinscription en un clic.</a:t>
            </a:r>
            <a:endParaRPr lang="en-US" sz="1150" dirty="0"/>
          </a:p>
        </p:txBody>
      </p:sp>
      <p:sp>
        <p:nvSpPr>
          <p:cNvPr id="20" name="Shape 15"/>
          <p:cNvSpPr/>
          <p:nvPr/>
        </p:nvSpPr>
        <p:spPr>
          <a:xfrm>
            <a:off x="640080" y="4626864"/>
            <a:ext cx="10908792" cy="1481328"/>
          </a:xfrm>
          <a:prstGeom prst="rect">
            <a:avLst/>
          </a:prstGeom>
          <a:solidFill>
            <a:srgbClr val="0A3F43"/>
          </a:solidFill>
          <a:ln/>
        </p:spPr>
      </p:sp>
      <p:sp>
        <p:nvSpPr>
          <p:cNvPr id="21" name="Shape 16"/>
          <p:cNvSpPr/>
          <p:nvPr/>
        </p:nvSpPr>
        <p:spPr>
          <a:xfrm>
            <a:off x="960120" y="4919472"/>
            <a:ext cx="457200" cy="457200"/>
          </a:xfrm>
          <a:prstGeom prst="ellipse">
            <a:avLst/>
          </a:prstGeom>
          <a:solidFill>
            <a:srgbClr val="0E5C61"/>
          </a:solidFill>
          <a:ln/>
        </p:spPr>
      </p:sp>
      <p:pic>
        <p:nvPicPr>
          <p:cNvPr id="22" name="Image 3" descr="preencoded.png">    </p:cNvPr>
          <p:cNvPicPr>
            <a:picLocks noChangeAspect="1"/>
          </p:cNvPicPr>
          <p:nvPr/>
        </p:nvPicPr>
        <p:blipFill>
          <a:blip r:embed="rId4"/>
          <a:stretch>
            <a:fillRect/>
          </a:stretch>
        </p:blipFill>
        <p:spPr>
          <a:xfrm>
            <a:off x="1024128" y="4983480"/>
            <a:ext cx="329184" cy="329184"/>
          </a:xfrm>
          <a:prstGeom prst="rect">
            <a:avLst/>
          </a:prstGeom>
        </p:spPr>
      </p:pic>
      <p:sp>
        <p:nvSpPr>
          <p:cNvPr id="23" name="Text 17"/>
          <p:cNvSpPr txBox="1"/>
          <p:nvPr/>
        </p:nvSpPr>
        <p:spPr>
          <a:xfrm>
            <a:off x="1581912" y="4892040"/>
            <a:ext cx="420624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Consentement respecté</a:t>
            </a:r>
            <a:endParaRPr lang="en-US" sz="1350" dirty="0"/>
          </a:p>
        </p:txBody>
      </p:sp>
      <p:sp>
        <p:nvSpPr>
          <p:cNvPr id="24" name="Text 18"/>
          <p:cNvSpPr txBox="1"/>
          <p:nvPr/>
        </p:nvSpPr>
        <p:spPr>
          <a:xfrm>
            <a:off x="1581912" y="5212080"/>
            <a:ext cx="4251960" cy="603504"/>
          </a:xfrm>
          <a:prstGeom prst="rect">
            <a:avLst/>
          </a:prstGeom>
          <a:noFill/>
          <a:ln/>
        </p:spPr>
        <p:txBody>
          <a:bodyPr wrap="square" lIns="0" tIns="0" rIns="0" bIns="0" rtlCol="0" anchor="ctr"/>
          <a:lstStyle/>
          <a:p>
            <a:pPr indent="0" marL="0">
              <a:lnSpc>
                <a:spcPct val="110000"/>
              </a:lnSpc>
              <a:buNone/>
            </a:pPr>
            <a:r>
              <a:rPr lang="en-US" sz="1100" dirty="0">
                <a:solidFill>
                  <a:srgbClr val="A9C4C4"/>
                </a:solidFill>
                <a:latin typeface="Calibri" pitchFamily="34" charset="0"/>
                <a:ea typeface="Calibri" pitchFamily="34" charset="-122"/>
                <a:cs typeface="Calibri" pitchFamily="34" charset="-120"/>
              </a:rPr>
              <a:t>Chaque destinataire choisit ses canaux ; sans accord, aucun message ne part.</a:t>
            </a:r>
            <a:endParaRPr lang="en-US" sz="1100" dirty="0"/>
          </a:p>
        </p:txBody>
      </p:sp>
      <p:sp>
        <p:nvSpPr>
          <p:cNvPr id="25" name="Shape 19"/>
          <p:cNvSpPr/>
          <p:nvPr/>
        </p:nvSpPr>
        <p:spPr>
          <a:xfrm>
            <a:off x="6309360" y="4919472"/>
            <a:ext cx="457200" cy="457200"/>
          </a:xfrm>
          <a:prstGeom prst="ellipse">
            <a:avLst/>
          </a:prstGeom>
          <a:solidFill>
            <a:srgbClr val="0E5C61"/>
          </a:solidFill>
          <a:ln/>
        </p:spPr>
      </p:sp>
      <p:pic>
        <p:nvPicPr>
          <p:cNvPr id="26" name="Image 4" descr="preencoded.png">    </p:cNvPr>
          <p:cNvPicPr>
            <a:picLocks noChangeAspect="1"/>
          </p:cNvPicPr>
          <p:nvPr/>
        </p:nvPicPr>
        <p:blipFill>
          <a:blip r:embed="rId5"/>
          <a:stretch>
            <a:fillRect/>
          </a:stretch>
        </p:blipFill>
        <p:spPr>
          <a:xfrm>
            <a:off x="6373368" y="4983480"/>
            <a:ext cx="329184" cy="329184"/>
          </a:xfrm>
          <a:prstGeom prst="rect">
            <a:avLst/>
          </a:prstGeom>
        </p:spPr>
      </p:pic>
      <p:sp>
        <p:nvSpPr>
          <p:cNvPr id="27" name="Text 20"/>
          <p:cNvSpPr txBox="1"/>
          <p:nvPr/>
        </p:nvSpPr>
        <p:spPr>
          <a:xfrm>
            <a:off x="6931152" y="4892040"/>
            <a:ext cx="420624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Historique consultable</a:t>
            </a:r>
            <a:endParaRPr lang="en-US" sz="1350" dirty="0"/>
          </a:p>
        </p:txBody>
      </p:sp>
      <p:sp>
        <p:nvSpPr>
          <p:cNvPr id="28" name="Text 21"/>
          <p:cNvSpPr txBox="1"/>
          <p:nvPr/>
        </p:nvSpPr>
        <p:spPr>
          <a:xfrm>
            <a:off x="6931152" y="5212080"/>
            <a:ext cx="4251960" cy="603504"/>
          </a:xfrm>
          <a:prstGeom prst="rect">
            <a:avLst/>
          </a:prstGeom>
          <a:noFill/>
          <a:ln/>
        </p:spPr>
        <p:txBody>
          <a:bodyPr wrap="square" lIns="0" tIns="0" rIns="0" bIns="0" rtlCol="0" anchor="ctr"/>
          <a:lstStyle/>
          <a:p>
            <a:pPr indent="0" marL="0">
              <a:lnSpc>
                <a:spcPct val="110000"/>
              </a:lnSpc>
              <a:buNone/>
            </a:pPr>
            <a:r>
              <a:rPr lang="en-US" sz="1100" dirty="0">
                <a:solidFill>
                  <a:srgbClr val="A9C4C4"/>
                </a:solidFill>
                <a:latin typeface="Calibri" pitchFamily="34" charset="0"/>
                <a:ea typeface="Calibri" pitchFamily="34" charset="-122"/>
                <a:cs typeface="Calibri" pitchFamily="34" charset="-120"/>
              </a:rPr>
              <a:t>Envoyé, en échec avec son motif, ou planifié — et annulable avant départ.</a:t>
            </a:r>
            <a:endParaRPr lang="en-US" sz="1100" dirty="0"/>
          </a:p>
        </p:txBody>
      </p:sp>
      <p:sp>
        <p:nvSpPr>
          <p:cNvPr id="29" name="Text 22"/>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3F43"/>
        </a:solidFill>
      </p:bgPr>
    </p:bg>
    <p:spTree>
      <p:nvGrpSpPr>
        <p:cNvPr id="1" name=""/>
        <p:cNvGrpSpPr/>
        <p:nvPr/>
      </p:nvGrpSpPr>
      <p:grpSpPr>
        <a:xfrm>
          <a:off x="0" y="0"/>
          <a:ext cx="0" cy="0"/>
          <a:chOff x="0" y="0"/>
          <a:chExt cx="0" cy="0"/>
        </a:xfrm>
      </p:grpSpPr>
      <p:sp>
        <p:nvSpPr>
          <p:cNvPr id="2" name="Shape 0"/>
          <p:cNvSpPr/>
          <p:nvPr/>
        </p:nvSpPr>
        <p:spPr>
          <a:xfrm>
            <a:off x="9326880" y="4023360"/>
            <a:ext cx="4206240" cy="4206240"/>
          </a:xfrm>
          <a:prstGeom prst="ellipse">
            <a:avLst/>
          </a:prstGeom>
          <a:solidFill>
            <a:srgbClr val="7FD4CE">
              <a:alpha val="8000"/>
            </a:srgbClr>
          </a:solidFill>
          <a:ln/>
        </p:spPr>
      </p:sp>
      <p:sp>
        <p:nvSpPr>
          <p:cNvPr id="3" name="Text 1"/>
          <p:cNvSpPr txBox="1"/>
          <p:nvPr/>
        </p:nvSpPr>
        <p:spPr>
          <a:xfrm>
            <a:off x="777240" y="658368"/>
            <a:ext cx="5486400" cy="274320"/>
          </a:xfrm>
          <a:prstGeom prst="rect">
            <a:avLst/>
          </a:prstGeom>
          <a:noFill/>
          <a:ln/>
        </p:spPr>
        <p:txBody>
          <a:bodyPr wrap="square" lIns="0" tIns="0" rIns="0" bIns="0" rtlCol="0" anchor="ctr"/>
          <a:lstStyle/>
          <a:p>
            <a:pPr indent="0" marL="0">
              <a:buNone/>
            </a:pPr>
            <a:r>
              <a:rPr lang="en-US" sz="1100" b="1" spc="300" kern="0" dirty="0">
                <a:solidFill>
                  <a:srgbClr val="7FD4CE"/>
                </a:solidFill>
                <a:latin typeface="Calibri" pitchFamily="34" charset="0"/>
                <a:ea typeface="Calibri" pitchFamily="34" charset="-122"/>
                <a:cs typeface="Calibri" pitchFamily="34" charset="-120"/>
              </a:rPr>
              <a:t>PROCHAINE ÉTAPE</a:t>
            </a:r>
            <a:endParaRPr lang="en-US" sz="1100" dirty="0"/>
          </a:p>
        </p:txBody>
      </p:sp>
      <p:sp>
        <p:nvSpPr>
          <p:cNvPr id="4" name="Text 2"/>
          <p:cNvSpPr txBox="1"/>
          <p:nvPr/>
        </p:nvSpPr>
        <p:spPr>
          <a:xfrm>
            <a:off x="777240" y="987552"/>
            <a:ext cx="9784080" cy="1051560"/>
          </a:xfrm>
          <a:prstGeom prst="rect">
            <a:avLst/>
          </a:prstGeom>
          <a:noFill/>
          <a:ln/>
        </p:spPr>
        <p:txBody>
          <a:bodyPr wrap="square" lIns="0" tIns="0" rIns="0" bIns="0" rtlCol="0" anchor="ctr"/>
          <a:lstStyle/>
          <a:p>
            <a:pPr indent="0" marL="0">
              <a:lnSpc>
                <a:spcPct val="102000"/>
              </a:lnSpc>
              <a:buNone/>
            </a:pPr>
            <a:r>
              <a:rPr lang="en-US" sz="3300" b="1" dirty="0">
                <a:solidFill>
                  <a:srgbClr val="FFFFFF"/>
                </a:solidFill>
                <a:latin typeface="Cambria" pitchFamily="34" charset="0"/>
                <a:ea typeface="Cambria" pitchFamily="34" charset="-122"/>
                <a:cs typeface="Cambria" pitchFamily="34" charset="-120"/>
              </a:rPr>
              <a:t>Voyons la plateforme sur vos propres biens.</a:t>
            </a:r>
            <a:endParaRPr lang="en-US" sz="3300" dirty="0"/>
          </a:p>
        </p:txBody>
      </p:sp>
      <p:sp>
        <p:nvSpPr>
          <p:cNvPr id="5" name="Text 3"/>
          <p:cNvSpPr txBox="1"/>
          <p:nvPr/>
        </p:nvSpPr>
        <p:spPr>
          <a:xfrm>
            <a:off x="777240" y="2286000"/>
            <a:ext cx="4572000" cy="292608"/>
          </a:xfrm>
          <a:prstGeom prst="rect">
            <a:avLst/>
          </a:prstGeom>
          <a:noFill/>
          <a:ln/>
        </p:spPr>
        <p:txBody>
          <a:bodyPr wrap="square" lIns="0" tIns="0" rIns="0" bIns="0" rtlCol="0" anchor="ctr"/>
          <a:lstStyle/>
          <a:p>
            <a:pPr indent="0" marL="0">
              <a:buNone/>
            </a:pPr>
            <a:r>
              <a:rPr lang="en-US" sz="1200" b="1" spc="160" kern="0" dirty="0">
                <a:solidFill>
                  <a:srgbClr val="A9C4C4"/>
                </a:solidFill>
                <a:latin typeface="Calibri" pitchFamily="34" charset="0"/>
                <a:ea typeface="Calibri" pitchFamily="34" charset="-122"/>
                <a:cs typeface="Calibri" pitchFamily="34" charset="-120"/>
              </a:rPr>
              <a:t>Ce que vous y gagnez</a:t>
            </a:r>
            <a:endParaRPr lang="en-US" sz="1200" dirty="0"/>
          </a:p>
        </p:txBody>
      </p:sp>
      <p:sp>
        <p:nvSpPr>
          <p:cNvPr id="6" name="Shape 4"/>
          <p:cNvSpPr/>
          <p:nvPr/>
        </p:nvSpPr>
        <p:spPr>
          <a:xfrm>
            <a:off x="777240" y="2761488"/>
            <a:ext cx="457200" cy="457200"/>
          </a:xfrm>
          <a:prstGeom prst="ellipse">
            <a:avLst/>
          </a:prstGeom>
          <a:solidFill>
            <a:srgbClr val="0E5C61"/>
          </a:solidFill>
          <a:ln/>
        </p:spPr>
      </p:sp>
      <p:pic>
        <p:nvPicPr>
          <p:cNvPr id="7" name="Image 0" descr="preencoded.png">    </p:cNvPr>
          <p:cNvPicPr>
            <a:picLocks noChangeAspect="1"/>
          </p:cNvPicPr>
          <p:nvPr/>
        </p:nvPicPr>
        <p:blipFill>
          <a:blip r:embed="rId1"/>
          <a:stretch>
            <a:fillRect/>
          </a:stretch>
        </p:blipFill>
        <p:spPr>
          <a:xfrm>
            <a:off x="841248" y="2825496"/>
            <a:ext cx="329184" cy="329184"/>
          </a:xfrm>
          <a:prstGeom prst="rect">
            <a:avLst/>
          </a:prstGeom>
        </p:spPr>
      </p:pic>
      <p:sp>
        <p:nvSpPr>
          <p:cNvPr id="8" name="Text 5"/>
          <p:cNvSpPr txBox="1"/>
          <p:nvPr/>
        </p:nvSpPr>
        <p:spPr>
          <a:xfrm>
            <a:off x="1399032" y="2734056"/>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Le temps des quittances</a:t>
            </a:r>
            <a:endParaRPr lang="en-US" sz="1400" dirty="0"/>
          </a:p>
        </p:txBody>
      </p:sp>
      <p:sp>
        <p:nvSpPr>
          <p:cNvPr id="9" name="Text 6"/>
          <p:cNvSpPr txBox="1"/>
          <p:nvPr/>
        </p:nvSpPr>
        <p:spPr>
          <a:xfrm>
            <a:off x="1399032" y="3054096"/>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Générées depuis vos modèles, numérotées, en une action.</a:t>
            </a:r>
            <a:endParaRPr lang="en-US" sz="1150" dirty="0"/>
          </a:p>
        </p:txBody>
      </p:sp>
      <p:sp>
        <p:nvSpPr>
          <p:cNvPr id="10" name="Shape 7"/>
          <p:cNvSpPr/>
          <p:nvPr/>
        </p:nvSpPr>
        <p:spPr>
          <a:xfrm>
            <a:off x="777240" y="3785616"/>
            <a:ext cx="457200" cy="457200"/>
          </a:xfrm>
          <a:prstGeom prst="ellipse">
            <a:avLst/>
          </a:prstGeom>
          <a:solidFill>
            <a:srgbClr val="0E5C61"/>
          </a:solidFill>
          <a:ln/>
        </p:spPr>
      </p:sp>
      <p:pic>
        <p:nvPicPr>
          <p:cNvPr id="11" name="Image 1" descr="preencoded.png">    </p:cNvPr>
          <p:cNvPicPr>
            <a:picLocks noChangeAspect="1"/>
          </p:cNvPicPr>
          <p:nvPr/>
        </p:nvPicPr>
        <p:blipFill>
          <a:blip r:embed="rId2"/>
          <a:stretch>
            <a:fillRect/>
          </a:stretch>
        </p:blipFill>
        <p:spPr>
          <a:xfrm>
            <a:off x="841248" y="3849624"/>
            <a:ext cx="329184" cy="329184"/>
          </a:xfrm>
          <a:prstGeom prst="rect">
            <a:avLst/>
          </a:prstGeom>
        </p:spPr>
      </p:pic>
      <p:sp>
        <p:nvSpPr>
          <p:cNvPr id="12" name="Text 8"/>
          <p:cNvSpPr txBox="1"/>
          <p:nvPr/>
        </p:nvSpPr>
        <p:spPr>
          <a:xfrm>
            <a:off x="1399032" y="3758184"/>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La visibilité sur les impayés</a:t>
            </a:r>
            <a:endParaRPr lang="en-US" sz="1400" dirty="0"/>
          </a:p>
        </p:txBody>
      </p:sp>
      <p:sp>
        <p:nvSpPr>
          <p:cNvPr id="13" name="Text 9"/>
          <p:cNvSpPr txBox="1"/>
          <p:nvPr/>
        </p:nvSpPr>
        <p:spPr>
          <a:xfrm>
            <a:off x="1399032" y="4078224"/>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Qui doit quoi, depuis quand, pénalité comprise.</a:t>
            </a:r>
            <a:endParaRPr lang="en-US" sz="1150" dirty="0"/>
          </a:p>
        </p:txBody>
      </p:sp>
      <p:sp>
        <p:nvSpPr>
          <p:cNvPr id="14" name="Shape 10"/>
          <p:cNvSpPr/>
          <p:nvPr/>
        </p:nvSpPr>
        <p:spPr>
          <a:xfrm>
            <a:off x="777240" y="4809744"/>
            <a:ext cx="457200" cy="457200"/>
          </a:xfrm>
          <a:prstGeom prst="ellipse">
            <a:avLst/>
          </a:prstGeom>
          <a:solidFill>
            <a:srgbClr val="0E5C61"/>
          </a:solidFill>
          <a:ln/>
        </p:spPr>
      </p:sp>
      <p:pic>
        <p:nvPicPr>
          <p:cNvPr id="15" name="Image 2" descr="preencoded.png">    </p:cNvPr>
          <p:cNvPicPr>
            <a:picLocks noChangeAspect="1"/>
          </p:cNvPicPr>
          <p:nvPr/>
        </p:nvPicPr>
        <p:blipFill>
          <a:blip r:embed="rId3"/>
          <a:stretch>
            <a:fillRect/>
          </a:stretch>
        </p:blipFill>
        <p:spPr>
          <a:xfrm>
            <a:off x="841248" y="4873752"/>
            <a:ext cx="329184" cy="329184"/>
          </a:xfrm>
          <a:prstGeom prst="rect">
            <a:avLst/>
          </a:prstGeom>
        </p:spPr>
      </p:pic>
      <p:sp>
        <p:nvSpPr>
          <p:cNvPr id="16" name="Text 11"/>
          <p:cNvSpPr txBox="1"/>
          <p:nvPr/>
        </p:nvSpPr>
        <p:spPr>
          <a:xfrm>
            <a:off x="1399032" y="4782312"/>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La preuve en cas de litige</a:t>
            </a:r>
            <a:endParaRPr lang="en-US" sz="1400" dirty="0"/>
          </a:p>
        </p:txBody>
      </p:sp>
      <p:sp>
        <p:nvSpPr>
          <p:cNvPr id="17" name="Text 12"/>
          <p:cNvSpPr txBox="1"/>
          <p:nvPr/>
        </p:nvSpPr>
        <p:spPr>
          <a:xfrm>
            <a:off x="1399032" y="5102352"/>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Chaque action tracée : qui, quoi, quand, sur quelle donnée.</a:t>
            </a:r>
            <a:endParaRPr lang="en-US" sz="1150" dirty="0"/>
          </a:p>
        </p:txBody>
      </p:sp>
      <p:sp>
        <p:nvSpPr>
          <p:cNvPr id="18" name="Shape 13"/>
          <p:cNvSpPr/>
          <p:nvPr/>
        </p:nvSpPr>
        <p:spPr>
          <a:xfrm>
            <a:off x="6309360" y="2286000"/>
            <a:ext cx="12802" cy="3566160"/>
          </a:xfrm>
          <a:prstGeom prst="rect">
            <a:avLst/>
          </a:prstGeom>
          <a:solidFill>
            <a:srgbClr val="1E5A5E"/>
          </a:solidFill>
          <a:ln/>
        </p:spPr>
      </p:sp>
      <p:sp>
        <p:nvSpPr>
          <p:cNvPr id="19" name="Text 14"/>
          <p:cNvSpPr txBox="1"/>
          <p:nvPr/>
        </p:nvSpPr>
        <p:spPr>
          <a:xfrm>
            <a:off x="6858000" y="2286000"/>
            <a:ext cx="4572000" cy="292608"/>
          </a:xfrm>
          <a:prstGeom prst="rect">
            <a:avLst/>
          </a:prstGeom>
          <a:noFill/>
          <a:ln/>
        </p:spPr>
        <p:txBody>
          <a:bodyPr wrap="square" lIns="0" tIns="0" rIns="0" bIns="0" rtlCol="0" anchor="ctr"/>
          <a:lstStyle/>
          <a:p>
            <a:pPr indent="0" marL="0">
              <a:buNone/>
            </a:pPr>
            <a:r>
              <a:rPr lang="en-US" sz="1200" b="1" spc="160" kern="0" dirty="0">
                <a:solidFill>
                  <a:srgbClr val="A9C4C4"/>
                </a:solidFill>
                <a:latin typeface="Calibri" pitchFamily="34" charset="0"/>
                <a:ea typeface="Calibri" pitchFamily="34" charset="-122"/>
                <a:cs typeface="Calibri" pitchFamily="34" charset="-120"/>
              </a:rPr>
              <a:t>Comment on avance</a:t>
            </a:r>
            <a:endParaRPr lang="en-US" sz="1200" dirty="0"/>
          </a:p>
        </p:txBody>
      </p:sp>
      <p:sp>
        <p:nvSpPr>
          <p:cNvPr id="20" name="Shape 15"/>
          <p:cNvSpPr/>
          <p:nvPr/>
        </p:nvSpPr>
        <p:spPr>
          <a:xfrm>
            <a:off x="6858000" y="2761488"/>
            <a:ext cx="457200" cy="457200"/>
          </a:xfrm>
          <a:prstGeom prst="ellipse">
            <a:avLst/>
          </a:prstGeom>
          <a:solidFill>
            <a:srgbClr val="7FD4CE"/>
          </a:solidFill>
          <a:ln/>
        </p:spPr>
      </p:sp>
      <p:sp>
        <p:nvSpPr>
          <p:cNvPr id="21" name="Text 16"/>
          <p:cNvSpPr txBox="1"/>
          <p:nvPr/>
        </p:nvSpPr>
        <p:spPr>
          <a:xfrm>
            <a:off x="6858000" y="2761488"/>
            <a:ext cx="457200" cy="457200"/>
          </a:xfrm>
          <a:prstGeom prst="rect">
            <a:avLst/>
          </a:prstGeom>
          <a:noFill/>
          <a:ln/>
        </p:spPr>
        <p:txBody>
          <a:bodyPr wrap="square" lIns="0" tIns="0" rIns="0" bIns="0" rtlCol="0" anchor="ctr"/>
          <a:lstStyle/>
          <a:p>
            <a:pPr algn="ctr" indent="0" marL="0">
              <a:buNone/>
            </a:pPr>
            <a:r>
              <a:rPr lang="en-US" sz="1500" b="1" dirty="0">
                <a:solidFill>
                  <a:srgbClr val="0A3F43"/>
                </a:solidFill>
                <a:latin typeface="Cambria" pitchFamily="34" charset="0"/>
                <a:ea typeface="Cambria" pitchFamily="34" charset="-122"/>
                <a:cs typeface="Cambria" pitchFamily="34" charset="-120"/>
              </a:rPr>
              <a:t>1</a:t>
            </a:r>
            <a:endParaRPr lang="en-US" sz="1500" dirty="0"/>
          </a:p>
        </p:txBody>
      </p:sp>
      <p:sp>
        <p:nvSpPr>
          <p:cNvPr id="22" name="Text 17"/>
          <p:cNvSpPr txBox="1"/>
          <p:nvPr/>
        </p:nvSpPr>
        <p:spPr>
          <a:xfrm>
            <a:off x="7479792" y="2734056"/>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Démonstration guidée</a:t>
            </a:r>
            <a:endParaRPr lang="en-US" sz="1400" dirty="0"/>
          </a:p>
        </p:txBody>
      </p:sp>
      <p:sp>
        <p:nvSpPr>
          <p:cNvPr id="23" name="Text 18"/>
          <p:cNvSpPr txBox="1"/>
          <p:nvPr/>
        </p:nvSpPr>
        <p:spPr>
          <a:xfrm>
            <a:off x="7479792" y="3054096"/>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45 minutes, sur un jeu de biens et de baux qui ressemble au vôtre.</a:t>
            </a:r>
            <a:endParaRPr lang="en-US" sz="1150" dirty="0"/>
          </a:p>
        </p:txBody>
      </p:sp>
      <p:sp>
        <p:nvSpPr>
          <p:cNvPr id="24" name="Shape 19"/>
          <p:cNvSpPr/>
          <p:nvPr/>
        </p:nvSpPr>
        <p:spPr>
          <a:xfrm>
            <a:off x="6858000" y="3785616"/>
            <a:ext cx="457200" cy="457200"/>
          </a:xfrm>
          <a:prstGeom prst="ellipse">
            <a:avLst/>
          </a:prstGeom>
          <a:solidFill>
            <a:srgbClr val="7FD4CE"/>
          </a:solidFill>
          <a:ln/>
        </p:spPr>
      </p:sp>
      <p:sp>
        <p:nvSpPr>
          <p:cNvPr id="25" name="Text 20"/>
          <p:cNvSpPr txBox="1"/>
          <p:nvPr/>
        </p:nvSpPr>
        <p:spPr>
          <a:xfrm>
            <a:off x="6858000" y="3785616"/>
            <a:ext cx="457200" cy="457200"/>
          </a:xfrm>
          <a:prstGeom prst="rect">
            <a:avLst/>
          </a:prstGeom>
          <a:noFill/>
          <a:ln/>
        </p:spPr>
        <p:txBody>
          <a:bodyPr wrap="square" lIns="0" tIns="0" rIns="0" bIns="0" rtlCol="0" anchor="ctr"/>
          <a:lstStyle/>
          <a:p>
            <a:pPr algn="ctr" indent="0" marL="0">
              <a:buNone/>
            </a:pPr>
            <a:r>
              <a:rPr lang="en-US" sz="1500" b="1" dirty="0">
                <a:solidFill>
                  <a:srgbClr val="0A3F43"/>
                </a:solidFill>
                <a:latin typeface="Cambria" pitchFamily="34" charset="0"/>
                <a:ea typeface="Cambria" pitchFamily="34" charset="-122"/>
                <a:cs typeface="Cambria" pitchFamily="34" charset="-120"/>
              </a:rPr>
              <a:t>2</a:t>
            </a:r>
            <a:endParaRPr lang="en-US" sz="1500" dirty="0"/>
          </a:p>
        </p:txBody>
      </p:sp>
      <p:sp>
        <p:nvSpPr>
          <p:cNvPr id="26" name="Text 21"/>
          <p:cNvSpPr txBox="1"/>
          <p:nvPr/>
        </p:nvSpPr>
        <p:spPr>
          <a:xfrm>
            <a:off x="7479792" y="3758184"/>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Essai encadré</a:t>
            </a:r>
            <a:endParaRPr lang="en-US" sz="1400" dirty="0"/>
          </a:p>
        </p:txBody>
      </p:sp>
      <p:sp>
        <p:nvSpPr>
          <p:cNvPr id="27" name="Text 22"/>
          <p:cNvSpPr txBox="1"/>
          <p:nvPr/>
        </p:nvSpPr>
        <p:spPr>
          <a:xfrm>
            <a:off x="7479792" y="4078224"/>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Votre espace ouvert, votre logo, vos modèles de quittance chargés.</a:t>
            </a:r>
            <a:endParaRPr lang="en-US" sz="1150" dirty="0"/>
          </a:p>
        </p:txBody>
      </p:sp>
      <p:sp>
        <p:nvSpPr>
          <p:cNvPr id="28" name="Shape 23"/>
          <p:cNvSpPr/>
          <p:nvPr/>
        </p:nvSpPr>
        <p:spPr>
          <a:xfrm>
            <a:off x="6858000" y="4809744"/>
            <a:ext cx="457200" cy="457200"/>
          </a:xfrm>
          <a:prstGeom prst="ellipse">
            <a:avLst/>
          </a:prstGeom>
          <a:solidFill>
            <a:srgbClr val="7FD4CE"/>
          </a:solidFill>
          <a:ln/>
        </p:spPr>
      </p:sp>
      <p:sp>
        <p:nvSpPr>
          <p:cNvPr id="29" name="Text 24"/>
          <p:cNvSpPr txBox="1"/>
          <p:nvPr/>
        </p:nvSpPr>
        <p:spPr>
          <a:xfrm>
            <a:off x="6858000" y="4809744"/>
            <a:ext cx="457200" cy="457200"/>
          </a:xfrm>
          <a:prstGeom prst="rect">
            <a:avLst/>
          </a:prstGeom>
          <a:noFill/>
          <a:ln/>
        </p:spPr>
        <p:txBody>
          <a:bodyPr wrap="square" lIns="0" tIns="0" rIns="0" bIns="0" rtlCol="0" anchor="ctr"/>
          <a:lstStyle/>
          <a:p>
            <a:pPr algn="ctr" indent="0" marL="0">
              <a:buNone/>
            </a:pPr>
            <a:r>
              <a:rPr lang="en-US" sz="1500" b="1" dirty="0">
                <a:solidFill>
                  <a:srgbClr val="0A3F43"/>
                </a:solidFill>
                <a:latin typeface="Cambria" pitchFamily="34" charset="0"/>
                <a:ea typeface="Cambria" pitchFamily="34" charset="-122"/>
                <a:cs typeface="Cambria" pitchFamily="34" charset="-120"/>
              </a:rPr>
              <a:t>3</a:t>
            </a:r>
            <a:endParaRPr lang="en-US" sz="1500" dirty="0"/>
          </a:p>
        </p:txBody>
      </p:sp>
      <p:sp>
        <p:nvSpPr>
          <p:cNvPr id="30" name="Text 25"/>
          <p:cNvSpPr txBox="1"/>
          <p:nvPr/>
        </p:nvSpPr>
        <p:spPr>
          <a:xfrm>
            <a:off x="7479792" y="4782312"/>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Reprise de l'existant</a:t>
            </a:r>
            <a:endParaRPr lang="en-US" sz="1400" dirty="0"/>
          </a:p>
        </p:txBody>
      </p:sp>
      <p:sp>
        <p:nvSpPr>
          <p:cNvPr id="31" name="Text 26"/>
          <p:cNvSpPr txBox="1"/>
          <p:nvPr/>
        </p:nvSpPr>
        <p:spPr>
          <a:xfrm>
            <a:off x="7479792" y="5102352"/>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Import de vos contacts et de vos biens depuis vos fichiers actuels.</a:t>
            </a:r>
            <a:endParaRPr lang="en-US" sz="1150" dirty="0"/>
          </a:p>
        </p:txBody>
      </p:sp>
      <p:sp>
        <p:nvSpPr>
          <p:cNvPr id="32" name="Text 27"/>
          <p:cNvSpPr txBox="1"/>
          <p:nvPr/>
        </p:nvSpPr>
        <p:spPr>
          <a:xfrm>
            <a:off x="777240" y="6144768"/>
            <a:ext cx="7315200" cy="274320"/>
          </a:xfrm>
          <a:prstGeom prst="rect">
            <a:avLst/>
          </a:prstGeom>
          <a:noFill/>
          <a:ln/>
        </p:spPr>
        <p:txBody>
          <a:bodyPr wrap="square" lIns="0" tIns="0" rIns="0" bIns="0" rtlCol="0" anchor="ctr"/>
          <a:lstStyle/>
          <a:p>
            <a:pPr indent="0" marL="0">
              <a:buNone/>
            </a:pPr>
            <a:r>
              <a:rPr lang="en-US" sz="1050" spc="140" kern="0" dirty="0">
                <a:solidFill>
                  <a:srgbClr val="6E9291"/>
                </a:solidFill>
                <a:latin typeface="Calibri" pitchFamily="34" charset="0"/>
                <a:ea typeface="Calibri" pitchFamily="34" charset="-122"/>
                <a:cs typeface="Calibri" pitchFamily="34" charset="-120"/>
              </a:rPr>
              <a:t>ImmoTopia  ·  Présentation commerciale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ImmoTopia — Présentation commerciale</dc:title>
  <dc:subject>PptxGenJS Presentation</dc:subject>
  <dc:creator>ImmoTopia</dc:creator>
  <cp:lastModifiedBy>ImmoTopia</cp:lastModifiedBy>
  <cp:revision>1</cp:revision>
  <dcterms:created xsi:type="dcterms:W3CDTF">2026-09-07T16:14:35Z</dcterms:created>
  <dcterms:modified xsi:type="dcterms:W3CDTF">2026-09-07T16:14:35Z</dcterms:modified>
</cp:coreProperties>
</file>