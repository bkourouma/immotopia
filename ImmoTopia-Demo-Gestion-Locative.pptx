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le nom, pas sur les fonctionnalités. Dire : « Je vais prendre dix minutes pour vous situer la plateforme, puis on l'ouvre pour de vrai sur des biens comme les vôtres.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probleme dans son monde a lui, sans lui relire son propre message. C'est aussi ici qu'on glisse a l'oral la clarification qu'il attend : « et pour lever tout doute, ImmoTopia est bien notre plateforme de gestion locative et fonciere — la formation en intelligence artificielle est une autre activite de la meme equipe.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lire les quatre cartes. En choisir deux, et demander : « laquelle vous parle le plus ? » — sa réponse oriente toute la démonstration qui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qui le concerne le plus directement. Insister sur l'étape 3 : le bien ne change pas d'outil quand il change de 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à laquelle il faut consacrer le plus de temps : c'est ce qu'il a demandé. Annoncer qu'on va jouer ces cinq temps en direct dans quelques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exactement ces trois mots : enregistré, déclaré, rapproché. Ne pas dire « la plateforme prélève automatiquement sur Orange Money » — la confirmation automatique depuis l'opérateur est un développement à part, annoncé comme 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L'argument qui emporte la décision dans une entreprise familiale. Après l'avoir dit, se taire et laisser la phrase 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une décision à prendre, pas sur une fonctionnalité. Proposer le pilote sur un seul bien, et fixer la date du point suivant pendant l'appel.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108960"/>
            <a:ext cx="5669280" cy="5669280"/>
          </a:xfrm>
          <a:prstGeom prst="ellipse">
            <a:avLst/>
          </a:prstGeom>
          <a:solidFill>
            <a:srgbClr val="17306E">
              <a:alpha val="55000"/>
            </a:srgbClr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530352"/>
            <a:ext cx="2980944" cy="1075861"/>
          </a:xfrm>
          <a:prstGeom prst="roundRect">
            <a:avLst>
              <a:gd name="adj" fmla="val 67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:\Users\HP PC\AppData\Local\Temp\claude\D--ImmoTopia-main\69bbb62e-37e1-449f-b3d7-59ab46e5f492\scratchpad\logo-immotop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2651760" cy="8198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1488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 votre activité immobilière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une seule plateforme.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0416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FC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terrains, vos chantiers, vos entrepôts et vos loyers — suivis au même endroit, du premier contact jusqu’à la quittance.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9436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· Gestion locative et foncière · Côte d’Ivoire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métiers dans une même maison.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1129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1635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foncier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63824"/>
            <a:ext cx="29626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parcelles, des titres, des acquéreurs. Chacune avec ses papiers, son historique et sa valeur du moment.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17136" y="1920240"/>
            <a:ext cx="351129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91456" y="219456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9145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281635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3163824"/>
            <a:ext cx="29626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chantiers, un coût prévu, un coût réel, et une date de livraison qui bouge. Le suivi se joue sur des mois.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48472" y="1920240"/>
            <a:ext cx="351129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22792" y="219456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2279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281635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3163824"/>
            <a:ext cx="29626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baux, des échéances, des cautions, des retards. Tous les mois, pour chaque bien, sans interruption.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800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rythmes, trois vocabulaires — et le plus souvent, trois outils qui ne se parlent pas.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34924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bâtiment qu’on vient de livrer redevient une ligne à ressaisir ailleurs.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 une gestion dispersée.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2157984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cahier des loyers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" y="2487168"/>
            <a:ext cx="4681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payé, combien, quand ? La réponse est dans un cahier, un tableur, ou la mémoire d’une personne. Le jour où elle est absente, personne ne sait.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11696" y="2157984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captures WhatsApp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11696" y="2487168"/>
            <a:ext cx="4681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locataire envoie la preuve de son transfert Mobile Money. Il faut la retrouver, la vérifier, la reporter à la main — et il rappelle pour savoir si c’est reçu.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858768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696" y="409651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appels de la famille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" y="4425696"/>
            <a:ext cx="4681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personnes veulent savoir où en sont les biens. Une seule répond au téléphone, et elle répond plusieurs fois par semaine.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858768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409651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retards invisibles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4425696"/>
            <a:ext cx="4681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impayé ne se voit pas tant que personne ne fait le total. Quand on s’en aperçoit, il a trois mois.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de ces problèmes n’est un problème de volume. Ce sont des problèmes de trace.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TROIS MÉTIERS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terrain d’aujourd’hui devient le loyer de demain.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2044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6364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terrain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6364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Enregistré comme un bien à part entière : superficie, localisation, titre foncier, documents.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92908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7228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7228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67228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67228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estimé contre coût réel, date prévue, avancement. Sur la fiche du bien, pas dans un autre outil.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33772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8092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8092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08092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bâtiment livré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08092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bien change de nature : l’entrepôt devient louable sans ressaisie.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74636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48956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95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648956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bail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48956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Loyer, charges, caution, périodicité — mensuelle pour un logement, trimestrielle pour un entrepôt.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15500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89820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982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989820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loyer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89820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produites seules, encaissements rapprochés, quittance générée.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enregistrement, suivi d’un bout à l’autre. Pas de second logiciel entre la construction et la location.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SUJET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locative, en cinq temps.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2044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6364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bail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6364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Bien, locataire, propriétaire, loyer, charges, caution. Plusieurs preneurs possibles sur un même bail.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92908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7228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7228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67228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L’échéancier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67228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automatiquement jusqu’à la fin du bail, au rythme choisi : mensuel, trimestriel, semestriel ou annuel.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33772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8092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8092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08092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L’encaissement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08092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Espèces, virement, chèque, carte ou Mobile Money. Affecté d’office au retard le plus ancien.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74636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48956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95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648956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48956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grâce, puis pénalité calculée toute seule. Le geste commercial reste possible, mais il laisse une trace écrite.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15500" y="1965960"/>
            <a:ext cx="2121408" cy="2880360"/>
          </a:xfrm>
          <a:prstGeom prst="roundRect">
            <a:avLst>
              <a:gd name="adj" fmla="val 431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89820" y="2240280"/>
            <a:ext cx="475488" cy="475488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982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989820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quittance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89820" y="3209544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 depuis votre propre modèle Word, numérotée, attachée au bail.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23036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le temps 1 et le temps 5, personne ne ressaisit rien.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plateforme fait, précisément.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240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Enregistré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633472"/>
            <a:ext cx="2926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 porte son opérateur, le numéro qui a envoyé, et sa référence de transaction. Cette référence est unique : le même versement ne peut pas être encaissé deux fois.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17136" y="196596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9744" y="2240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 par le locataire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809744" y="2633472"/>
            <a:ext cx="2926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son portail, il saisit le montant, l’opérateur, la référence, et joint la capture de son transfert. Vous vérifiez et vous validez — rien n’entre dans vos comptes sans votre accord.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48472" y="196596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2240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Rapproché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633472"/>
            <a:ext cx="2926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validé, le versement s’impute sur les échéances, en commençant par le retard le plus ancien. Les statuts se mettent à jour seuls.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26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39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reconnus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Orange, MTN, Moov, Wave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526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5239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paiement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total, Mobile Money compris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526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5239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encaissement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référence est unique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978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la confirmation automatique du versement depuis l’opérateur, sans saisie ni déclaration.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PORTAILS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locataires et votre famille se servent eux-mêmes.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53035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4984" y="217627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locataire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" y="25603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son téléphone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2971800"/>
            <a:ext cx="4645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bail et ses conditions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qu’il doit, et depuis quand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un paiement, justificatif à l’appui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une panne avec une photo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dépôt de garantie et ses documents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01952"/>
            <a:ext cx="53035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C0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29984" y="217627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propriétaire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729984" y="25603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membre de la famille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29984" y="2971800"/>
            <a:ext cx="4645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biens — et uniquement les siens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encaissé, ce qui reste attendu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incidents en cours sur ses bâtiments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relevés de compte par période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lecture seule : vous gardez la main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4864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une affaire familiale, plusieurs personnes veulent savoir où en sont les biens — et une seule répond au téléphone.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377440"/>
            <a:ext cx="6035040" cy="6035040"/>
          </a:xfrm>
          <a:prstGeom prst="ellipse">
            <a:avLst/>
          </a:prstGeom>
          <a:solidFill>
            <a:srgbClr val="17306E">
              <a:alpha val="45000"/>
            </a:srgbClr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132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6070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Ouvrons la plateforme.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267712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194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d’un lundi matin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98064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7249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entrepôt, un terrain, un chantier en cours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328416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9848" y="325526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bail créé devant vous, en cinq étapes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858768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78561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loyer encaissé en Mobile Money, affecté tout seul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389120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3159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locataire qui déclare son paiement, validé en direct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919472"/>
            <a:ext cx="182880" cy="182880"/>
          </a:xfrm>
          <a:prstGeom prst="ellipse">
            <a:avLst/>
          </a:prstGeom>
          <a:solidFill>
            <a:srgbClr val="FC5400"/>
          </a:solidFill>
          <a:ln w="12700">
            <a:solidFill>
              <a:srgbClr val="FC5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48463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de bail généré depuis un modèle Word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210312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17306E"/>
          </a:solidFill>
          <a:ln w="12700">
            <a:solidFill>
              <a:srgbClr val="2B45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23957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C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798064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démarrons avec un seul bien — l’un de vos entrepôts.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nous transmettez le bail existant et les derniers paiements. Sous une semaine, vous voyez votre premier écran réel, avec vos vrais chiffres.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cela vous convient, on étend au reste du portefeuille.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" y="5495544"/>
            <a:ext cx="2432304" cy="906241"/>
          </a:xfrm>
          <a:prstGeom prst="roundRect">
            <a:avLst>
              <a:gd name="adj" fmla="val 80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C:\Users\HP PC\AppData\Local\Temp\claude\D--ImmoTopia-main\69bbb62e-37e1-449f-b3d7-59ab46e5f492\scratchpad\logo-immotop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23560"/>
            <a:ext cx="2103120" cy="650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ImmoTopia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ImmoTopia — Gestion locative et foncière</dc:title>
  <dc:subject>PptxGenJS Presentation</dc:subject>
  <dc:creator>ImmoTopia</dc:creator>
  <cp:lastModifiedBy>ImmoTopia</cp:lastModifiedBy>
  <cp:revision>1</cp:revision>
  <dcterms:created xsi:type="dcterms:W3CDTF">2026-09-17T09:00:25Z</dcterms:created>
  <dcterms:modified xsi:type="dcterms:W3CDTF">2026-09-17T09:00:25Z</dcterms:modified>
</cp:coreProperties>
</file>